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hyperlink" Target="https://gamma.app"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837724" y="1367909"/>
            <a:ext cx="7468553" cy="2914650"/>
          </a:xfrm>
          <a:prstGeom prst="rect">
            <a:avLst/>
          </a:prstGeom>
          <a:noFill/>
          <a:ln/>
        </p:spPr>
        <p:txBody>
          <a:bodyPr wrap="square" rtlCol="0" anchor="t"/>
          <a:lstStyle/>
          <a:p>
            <a:pPr indent="0" marL="0">
              <a:lnSpc>
                <a:spcPts val="7650"/>
              </a:lnSpc>
              <a:buNone/>
            </a:pPr>
            <a:r>
              <a:rPr lang="en-US" sz="6120" dirty="0">
                <a:solidFill>
                  <a:srgbClr val="FFFFFF"/>
                </a:solidFill>
                <a:latin typeface="Unbounded" pitchFamily="34" charset="0"/>
                <a:ea typeface="Unbounded" pitchFamily="34" charset="-122"/>
                <a:cs typeface="Unbounded" pitchFamily="34" charset="-120"/>
              </a:rPr>
              <a:t>SDG 7: Affordable and Clean Energy</a:t>
            </a:r>
            <a:endParaRPr lang="en-US" sz="6120" dirty="0"/>
          </a:p>
        </p:txBody>
      </p:sp>
      <p:sp>
        <p:nvSpPr>
          <p:cNvPr id="6" name="Text 2"/>
          <p:cNvSpPr/>
          <p:nvPr/>
        </p:nvSpPr>
        <p:spPr>
          <a:xfrm>
            <a:off x="837724" y="4641533"/>
            <a:ext cx="7468553" cy="1532096"/>
          </a:xfrm>
          <a:prstGeom prst="rect">
            <a:avLst/>
          </a:prstGeom>
          <a:noFill/>
          <a:ln/>
        </p:spPr>
        <p:txBody>
          <a:bodyPr wrap="square" rtlCol="0" anchor="t"/>
          <a:lstStyle/>
          <a:p>
            <a:pPr indent="0" marL="0">
              <a:lnSpc>
                <a:spcPts val="3016"/>
              </a:lnSpc>
              <a:buNone/>
            </a:pPr>
            <a:r>
              <a:rPr lang="en-US" sz="1885" dirty="0">
                <a:solidFill>
                  <a:srgbClr val="CAD6DE"/>
                </a:solidFill>
                <a:latin typeface="Cabin" pitchFamily="34" charset="0"/>
                <a:ea typeface="Cabin" pitchFamily="34" charset="-122"/>
                <a:cs typeface="Cabin" pitchFamily="34" charset="-120"/>
              </a:rPr>
              <a:t>Ensuring access to affordable, reliable, sustainable, and modern energy for all is the focus of Sustainable Development Goal (SDG) 7. This critical goal aims to transform the global energy landscape and drive the transition to a clean energy future.</a:t>
            </a:r>
            <a:endParaRPr lang="en-US" sz="1885" dirty="0"/>
          </a:p>
        </p:txBody>
      </p:sp>
      <p:sp>
        <p:nvSpPr>
          <p:cNvPr id="7" name="Shape 3"/>
          <p:cNvSpPr/>
          <p:nvPr/>
        </p:nvSpPr>
        <p:spPr>
          <a:xfrm>
            <a:off x="837724" y="6460688"/>
            <a:ext cx="382905" cy="382905"/>
          </a:xfrm>
          <a:prstGeom prst="roundRect">
            <a:avLst>
              <a:gd name="adj" fmla="val 23878209"/>
            </a:avLst>
          </a:prstGeom>
          <a:noFill/>
          <a:ln w="7620">
            <a:solidFill>
              <a:srgbClr val="FFFFFF"/>
            </a:solidFill>
            <a:prstDash val="solid"/>
          </a:ln>
        </p:spPr>
      </p:sp>
      <p:pic>
        <p:nvPicPr>
          <p:cNvPr id="8" name="Image 2" descr="preencoded.png">    </p:cNvPr>
          <p:cNvPicPr>
            <a:picLocks noChangeAspect="1"/>
          </p:cNvPicPr>
          <p:nvPr/>
        </p:nvPicPr>
        <p:blipFill>
          <a:blip r:embed="rId3"/>
          <a:stretch>
            <a:fillRect/>
          </a:stretch>
        </p:blipFill>
        <p:spPr>
          <a:xfrm>
            <a:off x="845344" y="6468308"/>
            <a:ext cx="367665" cy="367665"/>
          </a:xfrm>
          <a:prstGeom prst="rect">
            <a:avLst/>
          </a:prstGeom>
        </p:spPr>
      </p:pic>
      <p:sp>
        <p:nvSpPr>
          <p:cNvPr id="9" name="Text 4"/>
          <p:cNvSpPr/>
          <p:nvPr/>
        </p:nvSpPr>
        <p:spPr>
          <a:xfrm>
            <a:off x="1340287" y="6442829"/>
            <a:ext cx="2387679" cy="418862"/>
          </a:xfrm>
          <a:prstGeom prst="rect">
            <a:avLst/>
          </a:prstGeom>
          <a:noFill/>
          <a:ln/>
        </p:spPr>
        <p:txBody>
          <a:bodyPr wrap="none" rtlCol="0" anchor="t"/>
          <a:lstStyle/>
          <a:p>
            <a:pPr algn="l" indent="0" marL="0">
              <a:lnSpc>
                <a:spcPts val="3299"/>
              </a:lnSpc>
              <a:buNone/>
            </a:pPr>
            <a:r>
              <a:rPr lang="en-US" sz="2356" b="1" dirty="0">
                <a:solidFill>
                  <a:srgbClr val="CAD6DE"/>
                </a:solidFill>
                <a:latin typeface="Cabin" pitchFamily="34" charset="0"/>
                <a:ea typeface="Cabin" pitchFamily="34" charset="-122"/>
                <a:cs typeface="Cabin" pitchFamily="34" charset="-120"/>
              </a:rPr>
              <a:t>by Winnie mutheu</a:t>
            </a:r>
            <a:endParaRPr lang="en-US" sz="2356" dirty="0"/>
          </a:p>
        </p:txBody>
      </p:sp>
      <p:pic>
        <p:nvPicPr>
          <p:cNvPr id="10" name="Image 3" descr="preencoded.png">
            <a:hlinkClick r:id="rId5" tooltip=""/>
          </p:cNvPr>
          <p:cNvPicPr>
            <a:picLocks noChangeAspect="1"/>
          </p:cNvPicPr>
          <p:nvPr/>
        </p:nvPicPr>
        <p:blipFill>
          <a:blip r:embed="rId4"/>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837724" y="1006316"/>
            <a:ext cx="7468553" cy="1408033"/>
          </a:xfrm>
          <a:prstGeom prst="rect">
            <a:avLst/>
          </a:prstGeom>
          <a:noFill/>
          <a:ln/>
        </p:spPr>
        <p:txBody>
          <a:bodyPr wrap="square" rtlCol="0" anchor="t"/>
          <a:lstStyle/>
          <a:p>
            <a:pPr indent="0" marL="0">
              <a:lnSpc>
                <a:spcPts val="5544"/>
              </a:lnSpc>
              <a:buNone/>
            </a:pPr>
            <a:r>
              <a:rPr lang="en-US" sz="4435" dirty="0">
                <a:solidFill>
                  <a:srgbClr val="FFFFFF"/>
                </a:solidFill>
                <a:latin typeface="Unbounded" pitchFamily="34" charset="0"/>
                <a:ea typeface="Unbounded" pitchFamily="34" charset="-122"/>
                <a:cs typeface="Unbounded" pitchFamily="34" charset="-120"/>
              </a:rPr>
              <a:t>Why SDG 7 is important</a:t>
            </a:r>
            <a:endParaRPr lang="en-US" sz="4435" dirty="0"/>
          </a:p>
        </p:txBody>
      </p:sp>
      <p:sp>
        <p:nvSpPr>
          <p:cNvPr id="6" name="Shape 2"/>
          <p:cNvSpPr/>
          <p:nvPr/>
        </p:nvSpPr>
        <p:spPr>
          <a:xfrm>
            <a:off x="837724" y="3042523"/>
            <a:ext cx="538520" cy="538520"/>
          </a:xfrm>
          <a:prstGeom prst="roundRect">
            <a:avLst>
              <a:gd name="adj" fmla="val 6668"/>
            </a:avLst>
          </a:prstGeom>
          <a:solidFill>
            <a:srgbClr val="304755"/>
          </a:solidFill>
          <a:ln/>
        </p:spPr>
      </p:sp>
      <p:sp>
        <p:nvSpPr>
          <p:cNvPr id="7" name="Text 3"/>
          <p:cNvSpPr/>
          <p:nvPr/>
        </p:nvSpPr>
        <p:spPr>
          <a:xfrm>
            <a:off x="1027390" y="3142774"/>
            <a:ext cx="159187" cy="337899"/>
          </a:xfrm>
          <a:prstGeom prst="rect">
            <a:avLst/>
          </a:prstGeom>
          <a:noFill/>
          <a:ln/>
        </p:spPr>
        <p:txBody>
          <a:bodyPr wrap="none" rtlCol="0" anchor="t"/>
          <a:lstStyle/>
          <a:p>
            <a:pPr algn="ctr" indent="0" marL="0">
              <a:lnSpc>
                <a:spcPts val="2661"/>
              </a:lnSpc>
              <a:buNone/>
            </a:pPr>
            <a:r>
              <a:rPr lang="en-US" sz="2661" dirty="0">
                <a:solidFill>
                  <a:srgbClr val="CAD6DE"/>
                </a:solidFill>
                <a:latin typeface="Unbounded" pitchFamily="34" charset="0"/>
                <a:ea typeface="Unbounded" pitchFamily="34" charset="-122"/>
                <a:cs typeface="Unbounded" pitchFamily="34" charset="-120"/>
              </a:rPr>
              <a:t>1</a:t>
            </a:r>
            <a:endParaRPr lang="en-US" sz="2661" dirty="0"/>
          </a:p>
        </p:txBody>
      </p:sp>
      <p:sp>
        <p:nvSpPr>
          <p:cNvPr id="8" name="Text 4"/>
          <p:cNvSpPr/>
          <p:nvPr/>
        </p:nvSpPr>
        <p:spPr>
          <a:xfrm>
            <a:off x="1615559" y="3042523"/>
            <a:ext cx="2816185" cy="351949"/>
          </a:xfrm>
          <a:prstGeom prst="rect">
            <a:avLst/>
          </a:prstGeom>
          <a:noFill/>
          <a:ln/>
        </p:spPr>
        <p:txBody>
          <a:bodyPr wrap="none" rtlCol="0" anchor="t"/>
          <a:lstStyle/>
          <a:p>
            <a:pPr indent="0" marL="0">
              <a:lnSpc>
                <a:spcPts val="2772"/>
              </a:lnSpc>
              <a:buNone/>
            </a:pPr>
            <a:r>
              <a:rPr lang="en-US" sz="2218" dirty="0">
                <a:solidFill>
                  <a:srgbClr val="CAD6DE"/>
                </a:solidFill>
                <a:latin typeface="Unbounded" pitchFamily="34" charset="0"/>
                <a:ea typeface="Unbounded" pitchFamily="34" charset="-122"/>
                <a:cs typeface="Unbounded" pitchFamily="34" charset="-120"/>
              </a:rPr>
              <a:t>Lack of Access</a:t>
            </a:r>
            <a:endParaRPr lang="en-US" sz="2218" dirty="0"/>
          </a:p>
        </p:txBody>
      </p:sp>
      <p:sp>
        <p:nvSpPr>
          <p:cNvPr id="9" name="Text 5"/>
          <p:cNvSpPr/>
          <p:nvPr/>
        </p:nvSpPr>
        <p:spPr>
          <a:xfrm>
            <a:off x="1615559" y="3538061"/>
            <a:ext cx="2836783" cy="1915120"/>
          </a:xfrm>
          <a:prstGeom prst="rect">
            <a:avLst/>
          </a:prstGeom>
          <a:noFill/>
          <a:ln/>
        </p:spPr>
        <p:txBody>
          <a:bodyPr wrap="square" rtlCol="0" anchor="t"/>
          <a:lstStyle/>
          <a:p>
            <a:pPr indent="0" marL="0">
              <a:lnSpc>
                <a:spcPts val="3016"/>
              </a:lnSpc>
              <a:buNone/>
            </a:pPr>
            <a:r>
              <a:rPr lang="en-US" sz="1885" dirty="0">
                <a:solidFill>
                  <a:srgbClr val="CAD6DE"/>
                </a:solidFill>
                <a:latin typeface="Cabin" pitchFamily="34" charset="0"/>
                <a:ea typeface="Cabin" pitchFamily="34" charset="-122"/>
                <a:cs typeface="Cabin" pitchFamily="34" charset="-120"/>
              </a:rPr>
              <a:t>Over 770 million people worldwide lack access to electricity, hindering economic and social development.</a:t>
            </a:r>
            <a:endParaRPr lang="en-US" sz="1885" dirty="0"/>
          </a:p>
        </p:txBody>
      </p:sp>
      <p:sp>
        <p:nvSpPr>
          <p:cNvPr id="10" name="Shape 6"/>
          <p:cNvSpPr/>
          <p:nvPr/>
        </p:nvSpPr>
        <p:spPr>
          <a:xfrm>
            <a:off x="4691658" y="3042523"/>
            <a:ext cx="538520" cy="538520"/>
          </a:xfrm>
          <a:prstGeom prst="roundRect">
            <a:avLst>
              <a:gd name="adj" fmla="val 6668"/>
            </a:avLst>
          </a:prstGeom>
          <a:solidFill>
            <a:srgbClr val="304755"/>
          </a:solidFill>
          <a:ln/>
        </p:spPr>
      </p:sp>
      <p:sp>
        <p:nvSpPr>
          <p:cNvPr id="11" name="Text 7"/>
          <p:cNvSpPr/>
          <p:nvPr/>
        </p:nvSpPr>
        <p:spPr>
          <a:xfrm>
            <a:off x="4827508" y="3142774"/>
            <a:ext cx="266700" cy="337899"/>
          </a:xfrm>
          <a:prstGeom prst="rect">
            <a:avLst/>
          </a:prstGeom>
          <a:noFill/>
          <a:ln/>
        </p:spPr>
        <p:txBody>
          <a:bodyPr wrap="none" rtlCol="0" anchor="t"/>
          <a:lstStyle/>
          <a:p>
            <a:pPr algn="ctr" indent="0" marL="0">
              <a:lnSpc>
                <a:spcPts val="2661"/>
              </a:lnSpc>
              <a:buNone/>
            </a:pPr>
            <a:r>
              <a:rPr lang="en-US" sz="2661" dirty="0">
                <a:solidFill>
                  <a:srgbClr val="CAD6DE"/>
                </a:solidFill>
                <a:latin typeface="Unbounded" pitchFamily="34" charset="0"/>
                <a:ea typeface="Unbounded" pitchFamily="34" charset="-122"/>
                <a:cs typeface="Unbounded" pitchFamily="34" charset="-120"/>
              </a:rPr>
              <a:t>2</a:t>
            </a:r>
            <a:endParaRPr lang="en-US" sz="2661" dirty="0"/>
          </a:p>
        </p:txBody>
      </p:sp>
      <p:sp>
        <p:nvSpPr>
          <p:cNvPr id="12" name="Text 8"/>
          <p:cNvSpPr/>
          <p:nvPr/>
        </p:nvSpPr>
        <p:spPr>
          <a:xfrm>
            <a:off x="5469493" y="3042523"/>
            <a:ext cx="2816185" cy="351949"/>
          </a:xfrm>
          <a:prstGeom prst="rect">
            <a:avLst/>
          </a:prstGeom>
          <a:noFill/>
          <a:ln/>
        </p:spPr>
        <p:txBody>
          <a:bodyPr wrap="none" rtlCol="0" anchor="t"/>
          <a:lstStyle/>
          <a:p>
            <a:pPr indent="0" marL="0">
              <a:lnSpc>
                <a:spcPts val="2772"/>
              </a:lnSpc>
              <a:buNone/>
            </a:pPr>
            <a:r>
              <a:rPr lang="en-US" sz="2218" dirty="0">
                <a:solidFill>
                  <a:srgbClr val="CAD6DE"/>
                </a:solidFill>
                <a:latin typeface="Unbounded" pitchFamily="34" charset="0"/>
                <a:ea typeface="Unbounded" pitchFamily="34" charset="-122"/>
                <a:cs typeface="Unbounded" pitchFamily="34" charset="-120"/>
              </a:rPr>
              <a:t>Climate Change</a:t>
            </a:r>
            <a:endParaRPr lang="en-US" sz="2218" dirty="0"/>
          </a:p>
        </p:txBody>
      </p:sp>
      <p:sp>
        <p:nvSpPr>
          <p:cNvPr id="13" name="Text 9"/>
          <p:cNvSpPr/>
          <p:nvPr/>
        </p:nvSpPr>
        <p:spPr>
          <a:xfrm>
            <a:off x="5469493" y="3538061"/>
            <a:ext cx="2836783" cy="1915120"/>
          </a:xfrm>
          <a:prstGeom prst="rect">
            <a:avLst/>
          </a:prstGeom>
          <a:noFill/>
          <a:ln/>
        </p:spPr>
        <p:txBody>
          <a:bodyPr wrap="square" rtlCol="0" anchor="t"/>
          <a:lstStyle/>
          <a:p>
            <a:pPr indent="0" marL="0">
              <a:lnSpc>
                <a:spcPts val="3016"/>
              </a:lnSpc>
              <a:buNone/>
            </a:pPr>
            <a:r>
              <a:rPr lang="en-US" sz="1885" dirty="0">
                <a:solidFill>
                  <a:srgbClr val="CAD6DE"/>
                </a:solidFill>
                <a:latin typeface="Cabin" pitchFamily="34" charset="0"/>
                <a:ea typeface="Cabin" pitchFamily="34" charset="-122"/>
                <a:cs typeface="Cabin" pitchFamily="34" charset="-120"/>
              </a:rPr>
              <a:t>Fossil fuel-based energy production is a major contributor to greenhouse gas emissions and climate change.</a:t>
            </a:r>
            <a:endParaRPr lang="en-US" sz="1885" dirty="0"/>
          </a:p>
        </p:txBody>
      </p:sp>
      <p:sp>
        <p:nvSpPr>
          <p:cNvPr id="14" name="Shape 10"/>
          <p:cNvSpPr/>
          <p:nvPr/>
        </p:nvSpPr>
        <p:spPr>
          <a:xfrm>
            <a:off x="837724" y="5961698"/>
            <a:ext cx="538520" cy="538520"/>
          </a:xfrm>
          <a:prstGeom prst="roundRect">
            <a:avLst>
              <a:gd name="adj" fmla="val 6668"/>
            </a:avLst>
          </a:prstGeom>
          <a:solidFill>
            <a:srgbClr val="304755"/>
          </a:solidFill>
          <a:ln/>
        </p:spPr>
      </p:sp>
      <p:sp>
        <p:nvSpPr>
          <p:cNvPr id="15" name="Text 11"/>
          <p:cNvSpPr/>
          <p:nvPr/>
        </p:nvSpPr>
        <p:spPr>
          <a:xfrm>
            <a:off x="971074" y="6061948"/>
            <a:ext cx="271701" cy="337899"/>
          </a:xfrm>
          <a:prstGeom prst="rect">
            <a:avLst/>
          </a:prstGeom>
          <a:noFill/>
          <a:ln/>
        </p:spPr>
        <p:txBody>
          <a:bodyPr wrap="none" rtlCol="0" anchor="t"/>
          <a:lstStyle/>
          <a:p>
            <a:pPr algn="ctr" indent="0" marL="0">
              <a:lnSpc>
                <a:spcPts val="2661"/>
              </a:lnSpc>
              <a:buNone/>
            </a:pPr>
            <a:r>
              <a:rPr lang="en-US" sz="2661" dirty="0">
                <a:solidFill>
                  <a:srgbClr val="CAD6DE"/>
                </a:solidFill>
                <a:latin typeface="Unbounded" pitchFamily="34" charset="0"/>
                <a:ea typeface="Unbounded" pitchFamily="34" charset="-122"/>
                <a:cs typeface="Unbounded" pitchFamily="34" charset="-120"/>
              </a:rPr>
              <a:t>3</a:t>
            </a:r>
            <a:endParaRPr lang="en-US" sz="2661" dirty="0"/>
          </a:p>
        </p:txBody>
      </p:sp>
      <p:sp>
        <p:nvSpPr>
          <p:cNvPr id="16" name="Text 12"/>
          <p:cNvSpPr/>
          <p:nvPr/>
        </p:nvSpPr>
        <p:spPr>
          <a:xfrm>
            <a:off x="1615559" y="5961698"/>
            <a:ext cx="3358158" cy="351949"/>
          </a:xfrm>
          <a:prstGeom prst="rect">
            <a:avLst/>
          </a:prstGeom>
          <a:noFill/>
          <a:ln/>
        </p:spPr>
        <p:txBody>
          <a:bodyPr wrap="none" rtlCol="0" anchor="t"/>
          <a:lstStyle/>
          <a:p>
            <a:pPr indent="0" marL="0">
              <a:lnSpc>
                <a:spcPts val="2772"/>
              </a:lnSpc>
              <a:buNone/>
            </a:pPr>
            <a:r>
              <a:rPr lang="en-US" sz="2218" dirty="0">
                <a:solidFill>
                  <a:srgbClr val="CAD6DE"/>
                </a:solidFill>
                <a:latin typeface="Unbounded" pitchFamily="34" charset="0"/>
                <a:ea typeface="Unbounded" pitchFamily="34" charset="-122"/>
                <a:cs typeface="Unbounded" pitchFamily="34" charset="-120"/>
              </a:rPr>
              <a:t>Sustainable Growth</a:t>
            </a:r>
            <a:endParaRPr lang="en-US" sz="2218" dirty="0"/>
          </a:p>
        </p:txBody>
      </p:sp>
      <p:sp>
        <p:nvSpPr>
          <p:cNvPr id="17" name="Text 13"/>
          <p:cNvSpPr/>
          <p:nvPr/>
        </p:nvSpPr>
        <p:spPr>
          <a:xfrm>
            <a:off x="1615559" y="6457236"/>
            <a:ext cx="6690717" cy="766048"/>
          </a:xfrm>
          <a:prstGeom prst="rect">
            <a:avLst/>
          </a:prstGeom>
          <a:noFill/>
          <a:ln/>
        </p:spPr>
        <p:txBody>
          <a:bodyPr wrap="square" rtlCol="0" anchor="t"/>
          <a:lstStyle/>
          <a:p>
            <a:pPr indent="0" marL="0">
              <a:lnSpc>
                <a:spcPts val="3016"/>
              </a:lnSpc>
              <a:buNone/>
            </a:pPr>
            <a:r>
              <a:rPr lang="en-US" sz="1885" dirty="0">
                <a:solidFill>
                  <a:srgbClr val="CAD6DE"/>
                </a:solidFill>
                <a:latin typeface="Cabin" pitchFamily="34" charset="0"/>
                <a:ea typeface="Cabin" pitchFamily="34" charset="-122"/>
                <a:cs typeface="Cabin" pitchFamily="34" charset="-120"/>
              </a:rPr>
              <a:t>Affordable and clean energy is essential for sustainable economic growth and improving quality of life.</a:t>
            </a:r>
            <a:endParaRPr lang="en-US" sz="1885" dirty="0"/>
          </a:p>
        </p:txBody>
      </p:sp>
      <p:pic>
        <p:nvPicPr>
          <p:cNvPr id="1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837724" y="1893332"/>
            <a:ext cx="12238792" cy="704017"/>
          </a:xfrm>
          <a:prstGeom prst="rect">
            <a:avLst/>
          </a:prstGeom>
          <a:noFill/>
          <a:ln/>
        </p:spPr>
        <p:txBody>
          <a:bodyPr wrap="none" rtlCol="0" anchor="t"/>
          <a:lstStyle/>
          <a:p>
            <a:pPr indent="0" marL="0">
              <a:lnSpc>
                <a:spcPts val="5544"/>
              </a:lnSpc>
              <a:buNone/>
            </a:pPr>
            <a:r>
              <a:rPr lang="en-US" sz="4435" dirty="0">
                <a:solidFill>
                  <a:srgbClr val="FFFFFF"/>
                </a:solidFill>
                <a:latin typeface="Unbounded" pitchFamily="34" charset="0"/>
                <a:ea typeface="Unbounded" pitchFamily="34" charset="-122"/>
                <a:cs typeface="Unbounded" pitchFamily="34" charset="-120"/>
              </a:rPr>
              <a:t>Key targets and indicators for SDG 7</a:t>
            </a:r>
            <a:endParaRPr lang="en-US" sz="4435" dirty="0"/>
          </a:p>
        </p:txBody>
      </p:sp>
      <p:sp>
        <p:nvSpPr>
          <p:cNvPr id="5" name="Text 2"/>
          <p:cNvSpPr/>
          <p:nvPr/>
        </p:nvSpPr>
        <p:spPr>
          <a:xfrm>
            <a:off x="837724" y="3195638"/>
            <a:ext cx="2816185" cy="351949"/>
          </a:xfrm>
          <a:prstGeom prst="rect">
            <a:avLst/>
          </a:prstGeom>
          <a:noFill/>
          <a:ln/>
        </p:spPr>
        <p:txBody>
          <a:bodyPr wrap="none" rtlCol="0" anchor="t"/>
          <a:lstStyle/>
          <a:p>
            <a:pPr indent="0" marL="0">
              <a:lnSpc>
                <a:spcPts val="2772"/>
              </a:lnSpc>
              <a:buNone/>
            </a:pPr>
            <a:r>
              <a:rPr lang="en-US" sz="2218" dirty="0">
                <a:solidFill>
                  <a:srgbClr val="FFFFFF"/>
                </a:solidFill>
                <a:latin typeface="Unbounded" pitchFamily="34" charset="0"/>
                <a:ea typeface="Unbounded" pitchFamily="34" charset="-122"/>
                <a:cs typeface="Unbounded" pitchFamily="34" charset="-120"/>
              </a:rPr>
              <a:t>Targets</a:t>
            </a:r>
            <a:endParaRPr lang="en-US" sz="2218" dirty="0"/>
          </a:p>
        </p:txBody>
      </p:sp>
      <p:sp>
        <p:nvSpPr>
          <p:cNvPr id="6" name="Text 3"/>
          <p:cNvSpPr/>
          <p:nvPr/>
        </p:nvSpPr>
        <p:spPr>
          <a:xfrm>
            <a:off x="1220629" y="3786902"/>
            <a:ext cx="5802630" cy="766048"/>
          </a:xfrm>
          <a:prstGeom prst="rect">
            <a:avLst/>
          </a:prstGeom>
          <a:noFill/>
          <a:ln/>
        </p:spPr>
        <p:txBody>
          <a:bodyPr wrap="square" rtlCol="0" anchor="t"/>
          <a:lstStyle/>
          <a:p>
            <a:pPr algn="l" marL="342900" indent="-342900">
              <a:lnSpc>
                <a:spcPts val="3016"/>
              </a:lnSpc>
              <a:buSzPct val="100000"/>
              <a:buChar char="•"/>
            </a:pPr>
            <a:r>
              <a:rPr lang="en-US" sz="1885" dirty="0">
                <a:solidFill>
                  <a:srgbClr val="CAD6DE"/>
                </a:solidFill>
                <a:latin typeface="Cabin" pitchFamily="34" charset="0"/>
                <a:ea typeface="Cabin" pitchFamily="34" charset="-122"/>
                <a:cs typeface="Cabin" pitchFamily="34" charset="-120"/>
              </a:rPr>
              <a:t>Ensure universal access to affordable, reliable, and modern energy services</a:t>
            </a:r>
            <a:endParaRPr lang="en-US" sz="1885" dirty="0"/>
          </a:p>
        </p:txBody>
      </p:sp>
      <p:sp>
        <p:nvSpPr>
          <p:cNvPr id="7" name="Text 4"/>
          <p:cNvSpPr/>
          <p:nvPr/>
        </p:nvSpPr>
        <p:spPr>
          <a:xfrm>
            <a:off x="1220629" y="4636651"/>
            <a:ext cx="5802630" cy="766048"/>
          </a:xfrm>
          <a:prstGeom prst="rect">
            <a:avLst/>
          </a:prstGeom>
          <a:noFill/>
          <a:ln/>
        </p:spPr>
        <p:txBody>
          <a:bodyPr wrap="square" rtlCol="0" anchor="t"/>
          <a:lstStyle/>
          <a:p>
            <a:pPr algn="l" marL="342900" indent="-342900">
              <a:lnSpc>
                <a:spcPts val="3016"/>
              </a:lnSpc>
              <a:buSzPct val="100000"/>
              <a:buChar char="•"/>
            </a:pPr>
            <a:r>
              <a:rPr lang="en-US" sz="1885" dirty="0">
                <a:solidFill>
                  <a:srgbClr val="CAD6DE"/>
                </a:solidFill>
                <a:latin typeface="Cabin" pitchFamily="34" charset="0"/>
                <a:ea typeface="Cabin" pitchFamily="34" charset="-122"/>
                <a:cs typeface="Cabin" pitchFamily="34" charset="-120"/>
              </a:rPr>
              <a:t>Increase substantially the share of renewable energy in the global energy mix</a:t>
            </a:r>
            <a:endParaRPr lang="en-US" sz="1885" dirty="0"/>
          </a:p>
        </p:txBody>
      </p:sp>
      <p:sp>
        <p:nvSpPr>
          <p:cNvPr id="8" name="Text 5"/>
          <p:cNvSpPr/>
          <p:nvPr/>
        </p:nvSpPr>
        <p:spPr>
          <a:xfrm>
            <a:off x="1220629" y="5486400"/>
            <a:ext cx="5802630" cy="766048"/>
          </a:xfrm>
          <a:prstGeom prst="rect">
            <a:avLst/>
          </a:prstGeom>
          <a:noFill/>
          <a:ln/>
        </p:spPr>
        <p:txBody>
          <a:bodyPr wrap="square" rtlCol="0" anchor="t"/>
          <a:lstStyle/>
          <a:p>
            <a:pPr algn="l" marL="342900" indent="-342900">
              <a:lnSpc>
                <a:spcPts val="3016"/>
              </a:lnSpc>
              <a:buSzPct val="100000"/>
              <a:buChar char="•"/>
            </a:pPr>
            <a:r>
              <a:rPr lang="en-US" sz="1885" dirty="0">
                <a:solidFill>
                  <a:srgbClr val="CAD6DE"/>
                </a:solidFill>
                <a:latin typeface="Cabin" pitchFamily="34" charset="0"/>
                <a:ea typeface="Cabin" pitchFamily="34" charset="-122"/>
                <a:cs typeface="Cabin" pitchFamily="34" charset="-120"/>
              </a:rPr>
              <a:t>Double the global rate of improvement in energy efficiency</a:t>
            </a:r>
            <a:endParaRPr lang="en-US" sz="1885" dirty="0"/>
          </a:p>
        </p:txBody>
      </p:sp>
      <p:sp>
        <p:nvSpPr>
          <p:cNvPr id="9" name="Text 6"/>
          <p:cNvSpPr/>
          <p:nvPr/>
        </p:nvSpPr>
        <p:spPr>
          <a:xfrm>
            <a:off x="7614761" y="3195638"/>
            <a:ext cx="2816185" cy="351949"/>
          </a:xfrm>
          <a:prstGeom prst="rect">
            <a:avLst/>
          </a:prstGeom>
          <a:noFill/>
          <a:ln/>
        </p:spPr>
        <p:txBody>
          <a:bodyPr wrap="none" rtlCol="0" anchor="t"/>
          <a:lstStyle/>
          <a:p>
            <a:pPr indent="0" marL="0">
              <a:lnSpc>
                <a:spcPts val="2772"/>
              </a:lnSpc>
              <a:buNone/>
            </a:pPr>
            <a:r>
              <a:rPr lang="en-US" sz="2218" dirty="0">
                <a:solidFill>
                  <a:srgbClr val="FFFFFF"/>
                </a:solidFill>
                <a:latin typeface="Unbounded" pitchFamily="34" charset="0"/>
                <a:ea typeface="Unbounded" pitchFamily="34" charset="-122"/>
                <a:cs typeface="Unbounded" pitchFamily="34" charset="-120"/>
              </a:rPr>
              <a:t>Indicators</a:t>
            </a:r>
            <a:endParaRPr lang="en-US" sz="2218" dirty="0"/>
          </a:p>
        </p:txBody>
      </p:sp>
      <p:sp>
        <p:nvSpPr>
          <p:cNvPr id="10" name="Text 7"/>
          <p:cNvSpPr/>
          <p:nvPr/>
        </p:nvSpPr>
        <p:spPr>
          <a:xfrm>
            <a:off x="7997666" y="3786902"/>
            <a:ext cx="5802630" cy="383024"/>
          </a:xfrm>
          <a:prstGeom prst="rect">
            <a:avLst/>
          </a:prstGeom>
          <a:noFill/>
          <a:ln/>
        </p:spPr>
        <p:txBody>
          <a:bodyPr wrap="none" rtlCol="0" anchor="t"/>
          <a:lstStyle/>
          <a:p>
            <a:pPr algn="l" marL="342900" indent="-342900">
              <a:lnSpc>
                <a:spcPts val="3016"/>
              </a:lnSpc>
              <a:buSzPct val="100000"/>
              <a:buChar char="•"/>
            </a:pPr>
            <a:r>
              <a:rPr lang="en-US" sz="1885" dirty="0">
                <a:solidFill>
                  <a:srgbClr val="CAD6DE"/>
                </a:solidFill>
                <a:latin typeface="Cabin" pitchFamily="34" charset="0"/>
                <a:ea typeface="Cabin" pitchFamily="34" charset="-122"/>
                <a:cs typeface="Cabin" pitchFamily="34" charset="-120"/>
              </a:rPr>
              <a:t>Proportion of population with access to electricity</a:t>
            </a:r>
            <a:endParaRPr lang="en-US" sz="1885" dirty="0"/>
          </a:p>
        </p:txBody>
      </p:sp>
      <p:sp>
        <p:nvSpPr>
          <p:cNvPr id="11" name="Text 8"/>
          <p:cNvSpPr/>
          <p:nvPr/>
        </p:nvSpPr>
        <p:spPr>
          <a:xfrm>
            <a:off x="7997666" y="4253627"/>
            <a:ext cx="5802630" cy="766048"/>
          </a:xfrm>
          <a:prstGeom prst="rect">
            <a:avLst/>
          </a:prstGeom>
          <a:noFill/>
          <a:ln/>
        </p:spPr>
        <p:txBody>
          <a:bodyPr wrap="square" rtlCol="0" anchor="t"/>
          <a:lstStyle/>
          <a:p>
            <a:pPr algn="l" marL="342900" indent="-342900">
              <a:lnSpc>
                <a:spcPts val="3016"/>
              </a:lnSpc>
              <a:buSzPct val="100000"/>
              <a:buChar char="•"/>
            </a:pPr>
            <a:r>
              <a:rPr lang="en-US" sz="1885" dirty="0">
                <a:solidFill>
                  <a:srgbClr val="CAD6DE"/>
                </a:solidFill>
                <a:latin typeface="Cabin" pitchFamily="34" charset="0"/>
                <a:ea typeface="Cabin" pitchFamily="34" charset="-122"/>
                <a:cs typeface="Cabin" pitchFamily="34" charset="-120"/>
              </a:rPr>
              <a:t>Renewable energy share in the total final energy consumption</a:t>
            </a:r>
            <a:endParaRPr lang="en-US" sz="1885" dirty="0"/>
          </a:p>
        </p:txBody>
      </p:sp>
      <p:sp>
        <p:nvSpPr>
          <p:cNvPr id="12" name="Text 9"/>
          <p:cNvSpPr/>
          <p:nvPr/>
        </p:nvSpPr>
        <p:spPr>
          <a:xfrm>
            <a:off x="7997666" y="5103376"/>
            <a:ext cx="5802630" cy="766048"/>
          </a:xfrm>
          <a:prstGeom prst="rect">
            <a:avLst/>
          </a:prstGeom>
          <a:noFill/>
          <a:ln/>
        </p:spPr>
        <p:txBody>
          <a:bodyPr wrap="square" rtlCol="0" anchor="t"/>
          <a:lstStyle/>
          <a:p>
            <a:pPr algn="l" marL="342900" indent="-342900">
              <a:lnSpc>
                <a:spcPts val="3016"/>
              </a:lnSpc>
              <a:buSzPct val="100000"/>
              <a:buChar char="•"/>
            </a:pPr>
            <a:r>
              <a:rPr lang="en-US" sz="1885" dirty="0">
                <a:solidFill>
                  <a:srgbClr val="CAD6DE"/>
                </a:solidFill>
                <a:latin typeface="Cabin" pitchFamily="34" charset="0"/>
                <a:ea typeface="Cabin" pitchFamily="34" charset="-122"/>
                <a:cs typeface="Cabin" pitchFamily="34" charset="-120"/>
              </a:rPr>
              <a:t>Energy intensity measured in terms of primary energy and GDP</a:t>
            </a:r>
            <a:endParaRPr lang="en-US" sz="1885" dirty="0"/>
          </a:p>
        </p:txBody>
      </p:sp>
      <p:pic>
        <p:nvPicPr>
          <p:cNvPr id="13"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271141" y="618292"/>
            <a:ext cx="7574518" cy="1318736"/>
          </a:xfrm>
          <a:prstGeom prst="rect">
            <a:avLst/>
          </a:prstGeom>
          <a:noFill/>
          <a:ln/>
        </p:spPr>
        <p:txBody>
          <a:bodyPr wrap="square" rtlCol="0" anchor="t"/>
          <a:lstStyle/>
          <a:p>
            <a:pPr indent="0" marL="0">
              <a:lnSpc>
                <a:spcPts val="5193"/>
              </a:lnSpc>
              <a:buNone/>
            </a:pPr>
            <a:r>
              <a:rPr lang="en-US" sz="4154" dirty="0">
                <a:solidFill>
                  <a:srgbClr val="FFFFFF"/>
                </a:solidFill>
                <a:latin typeface="Unbounded" pitchFamily="34" charset="0"/>
                <a:ea typeface="Unbounded" pitchFamily="34" charset="-122"/>
                <a:cs typeface="Unbounded" pitchFamily="34" charset="-120"/>
              </a:rPr>
              <a:t>Current global progress on SDG 7</a:t>
            </a:r>
            <a:endParaRPr lang="en-US" sz="4154" dirty="0"/>
          </a:p>
        </p:txBody>
      </p:sp>
      <p:sp>
        <p:nvSpPr>
          <p:cNvPr id="6" name="Shape 2"/>
          <p:cNvSpPr/>
          <p:nvPr/>
        </p:nvSpPr>
        <p:spPr>
          <a:xfrm>
            <a:off x="6592133" y="2273260"/>
            <a:ext cx="30480" cy="5337929"/>
          </a:xfrm>
          <a:prstGeom prst="roundRect">
            <a:avLst>
              <a:gd name="adj" fmla="val 110347"/>
            </a:avLst>
          </a:prstGeom>
          <a:solidFill>
            <a:srgbClr val="49606E"/>
          </a:solidFill>
          <a:ln/>
        </p:spPr>
      </p:sp>
      <p:sp>
        <p:nvSpPr>
          <p:cNvPr id="7" name="Shape 3"/>
          <p:cNvSpPr/>
          <p:nvPr/>
        </p:nvSpPr>
        <p:spPr>
          <a:xfrm>
            <a:off x="6829127" y="2762369"/>
            <a:ext cx="784741" cy="30480"/>
          </a:xfrm>
          <a:prstGeom prst="roundRect">
            <a:avLst>
              <a:gd name="adj" fmla="val 110347"/>
            </a:avLst>
          </a:prstGeom>
          <a:solidFill>
            <a:srgbClr val="49606E"/>
          </a:solidFill>
          <a:ln/>
        </p:spPr>
      </p:sp>
      <p:sp>
        <p:nvSpPr>
          <p:cNvPr id="8" name="Shape 4"/>
          <p:cNvSpPr/>
          <p:nvPr/>
        </p:nvSpPr>
        <p:spPr>
          <a:xfrm>
            <a:off x="6355140" y="2525435"/>
            <a:ext cx="504468" cy="504468"/>
          </a:xfrm>
          <a:prstGeom prst="roundRect">
            <a:avLst>
              <a:gd name="adj" fmla="val 6667"/>
            </a:avLst>
          </a:prstGeom>
          <a:solidFill>
            <a:srgbClr val="304755"/>
          </a:solidFill>
          <a:ln/>
        </p:spPr>
      </p:sp>
      <p:sp>
        <p:nvSpPr>
          <p:cNvPr id="9" name="Text 5"/>
          <p:cNvSpPr/>
          <p:nvPr/>
        </p:nvSpPr>
        <p:spPr>
          <a:xfrm>
            <a:off x="6532781" y="2619375"/>
            <a:ext cx="149066" cy="316587"/>
          </a:xfrm>
          <a:prstGeom prst="rect">
            <a:avLst/>
          </a:prstGeom>
          <a:noFill/>
          <a:ln/>
        </p:spPr>
        <p:txBody>
          <a:bodyPr wrap="none" rtlCol="0" anchor="t"/>
          <a:lstStyle/>
          <a:p>
            <a:pPr algn="ctr" indent="0" marL="0">
              <a:lnSpc>
                <a:spcPts val="2493"/>
              </a:lnSpc>
              <a:buNone/>
            </a:pPr>
            <a:r>
              <a:rPr lang="en-US" sz="2493" dirty="0">
                <a:solidFill>
                  <a:srgbClr val="CAD6DE"/>
                </a:solidFill>
                <a:latin typeface="Unbounded" pitchFamily="34" charset="0"/>
                <a:ea typeface="Unbounded" pitchFamily="34" charset="-122"/>
                <a:cs typeface="Unbounded" pitchFamily="34" charset="-120"/>
              </a:rPr>
              <a:t>1</a:t>
            </a:r>
            <a:endParaRPr lang="en-US" sz="2493" dirty="0"/>
          </a:p>
        </p:txBody>
      </p:sp>
      <p:sp>
        <p:nvSpPr>
          <p:cNvPr id="10" name="Text 6"/>
          <p:cNvSpPr/>
          <p:nvPr/>
        </p:nvSpPr>
        <p:spPr>
          <a:xfrm>
            <a:off x="7840504" y="2497455"/>
            <a:ext cx="3233023" cy="329803"/>
          </a:xfrm>
          <a:prstGeom prst="rect">
            <a:avLst/>
          </a:prstGeom>
          <a:noFill/>
          <a:ln/>
        </p:spPr>
        <p:txBody>
          <a:bodyPr wrap="none" rtlCol="0" anchor="t"/>
          <a:lstStyle/>
          <a:p>
            <a:pPr algn="l" indent="0" marL="0">
              <a:lnSpc>
                <a:spcPts val="2596"/>
              </a:lnSpc>
              <a:buNone/>
            </a:pPr>
            <a:r>
              <a:rPr lang="en-US" sz="2077" dirty="0">
                <a:solidFill>
                  <a:srgbClr val="CAD6DE"/>
                </a:solidFill>
                <a:latin typeface="Unbounded" pitchFamily="34" charset="0"/>
                <a:ea typeface="Unbounded" pitchFamily="34" charset="-122"/>
                <a:cs typeface="Unbounded" pitchFamily="34" charset="-120"/>
              </a:rPr>
              <a:t>Access to Electricity</a:t>
            </a:r>
            <a:endParaRPr lang="en-US" sz="2077" dirty="0"/>
          </a:p>
        </p:txBody>
      </p:sp>
      <p:sp>
        <p:nvSpPr>
          <p:cNvPr id="11" name="Text 7"/>
          <p:cNvSpPr/>
          <p:nvPr/>
        </p:nvSpPr>
        <p:spPr>
          <a:xfrm>
            <a:off x="7840504" y="2961680"/>
            <a:ext cx="6005155" cy="717233"/>
          </a:xfrm>
          <a:prstGeom prst="rect">
            <a:avLst/>
          </a:prstGeom>
          <a:noFill/>
          <a:ln/>
        </p:spPr>
        <p:txBody>
          <a:bodyPr wrap="square" rtlCol="0" anchor="t"/>
          <a:lstStyle/>
          <a:p>
            <a:pPr algn="l" indent="0" marL="0">
              <a:lnSpc>
                <a:spcPts val="2825"/>
              </a:lnSpc>
              <a:buNone/>
            </a:pPr>
            <a:r>
              <a:rPr lang="en-US" sz="1766" dirty="0">
                <a:solidFill>
                  <a:srgbClr val="CAD6DE"/>
                </a:solidFill>
                <a:latin typeface="Cabin" pitchFamily="34" charset="0"/>
                <a:ea typeface="Cabin" pitchFamily="34" charset="-122"/>
                <a:cs typeface="Cabin" pitchFamily="34" charset="-120"/>
              </a:rPr>
              <a:t>Global access to electricity has increased from 83% in 2010 to 90% in 2020.</a:t>
            </a:r>
            <a:endParaRPr lang="en-US" sz="1766" dirty="0"/>
          </a:p>
        </p:txBody>
      </p:sp>
      <p:sp>
        <p:nvSpPr>
          <p:cNvPr id="12" name="Shape 8"/>
          <p:cNvSpPr/>
          <p:nvPr/>
        </p:nvSpPr>
        <p:spPr>
          <a:xfrm>
            <a:off x="6829127" y="4616410"/>
            <a:ext cx="784741" cy="30480"/>
          </a:xfrm>
          <a:prstGeom prst="roundRect">
            <a:avLst>
              <a:gd name="adj" fmla="val 110347"/>
            </a:avLst>
          </a:prstGeom>
          <a:solidFill>
            <a:srgbClr val="49606E"/>
          </a:solidFill>
          <a:ln/>
        </p:spPr>
      </p:sp>
      <p:sp>
        <p:nvSpPr>
          <p:cNvPr id="13" name="Shape 9"/>
          <p:cNvSpPr/>
          <p:nvPr/>
        </p:nvSpPr>
        <p:spPr>
          <a:xfrm>
            <a:off x="6355140" y="4379476"/>
            <a:ext cx="504468" cy="504468"/>
          </a:xfrm>
          <a:prstGeom prst="roundRect">
            <a:avLst>
              <a:gd name="adj" fmla="val 6667"/>
            </a:avLst>
          </a:prstGeom>
          <a:solidFill>
            <a:srgbClr val="304755"/>
          </a:solidFill>
          <a:ln/>
        </p:spPr>
      </p:sp>
      <p:sp>
        <p:nvSpPr>
          <p:cNvPr id="14" name="Text 10"/>
          <p:cNvSpPr/>
          <p:nvPr/>
        </p:nvSpPr>
        <p:spPr>
          <a:xfrm>
            <a:off x="6482417" y="4473416"/>
            <a:ext cx="249793" cy="316587"/>
          </a:xfrm>
          <a:prstGeom prst="rect">
            <a:avLst/>
          </a:prstGeom>
          <a:noFill/>
          <a:ln/>
        </p:spPr>
        <p:txBody>
          <a:bodyPr wrap="none" rtlCol="0" anchor="t"/>
          <a:lstStyle/>
          <a:p>
            <a:pPr algn="ctr" indent="0" marL="0">
              <a:lnSpc>
                <a:spcPts val="2493"/>
              </a:lnSpc>
              <a:buNone/>
            </a:pPr>
            <a:r>
              <a:rPr lang="en-US" sz="2493" dirty="0">
                <a:solidFill>
                  <a:srgbClr val="CAD6DE"/>
                </a:solidFill>
                <a:latin typeface="Unbounded" pitchFamily="34" charset="0"/>
                <a:ea typeface="Unbounded" pitchFamily="34" charset="-122"/>
                <a:cs typeface="Unbounded" pitchFamily="34" charset="-120"/>
              </a:rPr>
              <a:t>2</a:t>
            </a:r>
            <a:endParaRPr lang="en-US" sz="2493" dirty="0"/>
          </a:p>
        </p:txBody>
      </p:sp>
      <p:sp>
        <p:nvSpPr>
          <p:cNvPr id="15" name="Text 11"/>
          <p:cNvSpPr/>
          <p:nvPr/>
        </p:nvSpPr>
        <p:spPr>
          <a:xfrm>
            <a:off x="7840504" y="4351496"/>
            <a:ext cx="2902863" cy="329803"/>
          </a:xfrm>
          <a:prstGeom prst="rect">
            <a:avLst/>
          </a:prstGeom>
          <a:noFill/>
          <a:ln/>
        </p:spPr>
        <p:txBody>
          <a:bodyPr wrap="none" rtlCol="0" anchor="t"/>
          <a:lstStyle/>
          <a:p>
            <a:pPr algn="l" indent="0" marL="0">
              <a:lnSpc>
                <a:spcPts val="2596"/>
              </a:lnSpc>
              <a:buNone/>
            </a:pPr>
            <a:r>
              <a:rPr lang="en-US" sz="2077" dirty="0">
                <a:solidFill>
                  <a:srgbClr val="CAD6DE"/>
                </a:solidFill>
                <a:latin typeface="Unbounded" pitchFamily="34" charset="0"/>
                <a:ea typeface="Unbounded" pitchFamily="34" charset="-122"/>
                <a:cs typeface="Unbounded" pitchFamily="34" charset="-120"/>
              </a:rPr>
              <a:t>Renewable Energy</a:t>
            </a:r>
            <a:endParaRPr lang="en-US" sz="2077" dirty="0"/>
          </a:p>
        </p:txBody>
      </p:sp>
      <p:sp>
        <p:nvSpPr>
          <p:cNvPr id="16" name="Text 12"/>
          <p:cNvSpPr/>
          <p:nvPr/>
        </p:nvSpPr>
        <p:spPr>
          <a:xfrm>
            <a:off x="7840504" y="4815721"/>
            <a:ext cx="6005155" cy="717233"/>
          </a:xfrm>
          <a:prstGeom prst="rect">
            <a:avLst/>
          </a:prstGeom>
          <a:noFill/>
          <a:ln/>
        </p:spPr>
        <p:txBody>
          <a:bodyPr wrap="square" rtlCol="0" anchor="t"/>
          <a:lstStyle/>
          <a:p>
            <a:pPr algn="l" indent="0" marL="0">
              <a:lnSpc>
                <a:spcPts val="2825"/>
              </a:lnSpc>
              <a:buNone/>
            </a:pPr>
            <a:r>
              <a:rPr lang="en-US" sz="1766" dirty="0">
                <a:solidFill>
                  <a:srgbClr val="CAD6DE"/>
                </a:solidFill>
                <a:latin typeface="Cabin" pitchFamily="34" charset="0"/>
                <a:ea typeface="Cabin" pitchFamily="34" charset="-122"/>
                <a:cs typeface="Cabin" pitchFamily="34" charset="-120"/>
              </a:rPr>
              <a:t>The share of renewable energy in the global energy mix has grown from 17.3% in 2010 to 20.1% in 2020.</a:t>
            </a:r>
            <a:endParaRPr lang="en-US" sz="1766" dirty="0"/>
          </a:p>
        </p:txBody>
      </p:sp>
      <p:sp>
        <p:nvSpPr>
          <p:cNvPr id="17" name="Shape 13"/>
          <p:cNvSpPr/>
          <p:nvPr/>
        </p:nvSpPr>
        <p:spPr>
          <a:xfrm>
            <a:off x="6829127" y="6470452"/>
            <a:ext cx="784741" cy="30480"/>
          </a:xfrm>
          <a:prstGeom prst="roundRect">
            <a:avLst>
              <a:gd name="adj" fmla="val 110347"/>
            </a:avLst>
          </a:prstGeom>
          <a:solidFill>
            <a:srgbClr val="49606E"/>
          </a:solidFill>
          <a:ln/>
        </p:spPr>
      </p:sp>
      <p:sp>
        <p:nvSpPr>
          <p:cNvPr id="18" name="Shape 14"/>
          <p:cNvSpPr/>
          <p:nvPr/>
        </p:nvSpPr>
        <p:spPr>
          <a:xfrm>
            <a:off x="6355140" y="6233517"/>
            <a:ext cx="504468" cy="504468"/>
          </a:xfrm>
          <a:prstGeom prst="roundRect">
            <a:avLst>
              <a:gd name="adj" fmla="val 6667"/>
            </a:avLst>
          </a:prstGeom>
          <a:solidFill>
            <a:srgbClr val="304755"/>
          </a:solidFill>
          <a:ln/>
        </p:spPr>
      </p:sp>
      <p:sp>
        <p:nvSpPr>
          <p:cNvPr id="19" name="Text 15"/>
          <p:cNvSpPr/>
          <p:nvPr/>
        </p:nvSpPr>
        <p:spPr>
          <a:xfrm>
            <a:off x="6480036" y="6327458"/>
            <a:ext cx="254556" cy="316587"/>
          </a:xfrm>
          <a:prstGeom prst="rect">
            <a:avLst/>
          </a:prstGeom>
          <a:noFill/>
          <a:ln/>
        </p:spPr>
        <p:txBody>
          <a:bodyPr wrap="none" rtlCol="0" anchor="t"/>
          <a:lstStyle/>
          <a:p>
            <a:pPr algn="ctr" indent="0" marL="0">
              <a:lnSpc>
                <a:spcPts val="2493"/>
              </a:lnSpc>
              <a:buNone/>
            </a:pPr>
            <a:r>
              <a:rPr lang="en-US" sz="2493" dirty="0">
                <a:solidFill>
                  <a:srgbClr val="CAD6DE"/>
                </a:solidFill>
                <a:latin typeface="Unbounded" pitchFamily="34" charset="0"/>
                <a:ea typeface="Unbounded" pitchFamily="34" charset="-122"/>
                <a:cs typeface="Unbounded" pitchFamily="34" charset="-120"/>
              </a:rPr>
              <a:t>3</a:t>
            </a:r>
            <a:endParaRPr lang="en-US" sz="2493" dirty="0"/>
          </a:p>
        </p:txBody>
      </p:sp>
      <p:sp>
        <p:nvSpPr>
          <p:cNvPr id="20" name="Text 16"/>
          <p:cNvSpPr/>
          <p:nvPr/>
        </p:nvSpPr>
        <p:spPr>
          <a:xfrm>
            <a:off x="7840504" y="6205538"/>
            <a:ext cx="2738318" cy="329803"/>
          </a:xfrm>
          <a:prstGeom prst="rect">
            <a:avLst/>
          </a:prstGeom>
          <a:noFill/>
          <a:ln/>
        </p:spPr>
        <p:txBody>
          <a:bodyPr wrap="none" rtlCol="0" anchor="t"/>
          <a:lstStyle/>
          <a:p>
            <a:pPr algn="l" indent="0" marL="0">
              <a:lnSpc>
                <a:spcPts val="2596"/>
              </a:lnSpc>
              <a:buNone/>
            </a:pPr>
            <a:r>
              <a:rPr lang="en-US" sz="2077" dirty="0">
                <a:solidFill>
                  <a:srgbClr val="CAD6DE"/>
                </a:solidFill>
                <a:latin typeface="Unbounded" pitchFamily="34" charset="0"/>
                <a:ea typeface="Unbounded" pitchFamily="34" charset="-122"/>
                <a:cs typeface="Unbounded" pitchFamily="34" charset="-120"/>
              </a:rPr>
              <a:t>Energy Efficiency</a:t>
            </a:r>
            <a:endParaRPr lang="en-US" sz="2077" dirty="0"/>
          </a:p>
        </p:txBody>
      </p:sp>
      <p:sp>
        <p:nvSpPr>
          <p:cNvPr id="21" name="Text 17"/>
          <p:cNvSpPr/>
          <p:nvPr/>
        </p:nvSpPr>
        <p:spPr>
          <a:xfrm>
            <a:off x="7840504" y="6669762"/>
            <a:ext cx="6005155" cy="717233"/>
          </a:xfrm>
          <a:prstGeom prst="rect">
            <a:avLst/>
          </a:prstGeom>
          <a:noFill/>
          <a:ln/>
        </p:spPr>
        <p:txBody>
          <a:bodyPr wrap="square" rtlCol="0" anchor="t"/>
          <a:lstStyle/>
          <a:p>
            <a:pPr algn="l" indent="0" marL="0">
              <a:lnSpc>
                <a:spcPts val="2825"/>
              </a:lnSpc>
              <a:buNone/>
            </a:pPr>
            <a:r>
              <a:rPr lang="en-US" sz="1766" dirty="0">
                <a:solidFill>
                  <a:srgbClr val="CAD6DE"/>
                </a:solidFill>
                <a:latin typeface="Cabin" pitchFamily="34" charset="0"/>
                <a:ea typeface="Cabin" pitchFamily="34" charset="-122"/>
                <a:cs typeface="Cabin" pitchFamily="34" charset="-120"/>
              </a:rPr>
              <a:t>The global rate of improvement in energy efficiency has increased from 1.3% in 2010 to 2.1% in 2020.</a:t>
            </a:r>
            <a:endParaRPr lang="en-US" sz="1766" dirty="0"/>
          </a:p>
        </p:txBody>
      </p:sp>
      <p:pic>
        <p:nvPicPr>
          <p:cNvPr id="22"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280071" y="804624"/>
            <a:ext cx="7556659" cy="1333976"/>
          </a:xfrm>
          <a:prstGeom prst="rect">
            <a:avLst/>
          </a:prstGeom>
          <a:noFill/>
          <a:ln/>
        </p:spPr>
        <p:txBody>
          <a:bodyPr wrap="square" rtlCol="0" anchor="t"/>
          <a:lstStyle/>
          <a:p>
            <a:pPr indent="0" marL="0">
              <a:lnSpc>
                <a:spcPts val="5252"/>
              </a:lnSpc>
              <a:buNone/>
            </a:pPr>
            <a:r>
              <a:rPr lang="en-US" sz="4202" dirty="0">
                <a:solidFill>
                  <a:srgbClr val="FFFFFF"/>
                </a:solidFill>
                <a:latin typeface="Unbounded" pitchFamily="34" charset="0"/>
                <a:ea typeface="Unbounded" pitchFamily="34" charset="-122"/>
                <a:cs typeface="Unbounded" pitchFamily="34" charset="-120"/>
              </a:rPr>
              <a:t>Challenges in achieving SDG 7</a:t>
            </a:r>
            <a:endParaRPr lang="en-US" sz="4202" dirty="0"/>
          </a:p>
        </p:txBody>
      </p:sp>
      <p:sp>
        <p:nvSpPr>
          <p:cNvPr id="6" name="Shape 2"/>
          <p:cNvSpPr/>
          <p:nvPr/>
        </p:nvSpPr>
        <p:spPr>
          <a:xfrm>
            <a:off x="6280071" y="2478762"/>
            <a:ext cx="3664982" cy="2374463"/>
          </a:xfrm>
          <a:prstGeom prst="roundRect">
            <a:avLst>
              <a:gd name="adj" fmla="val 1433"/>
            </a:avLst>
          </a:prstGeom>
          <a:solidFill>
            <a:srgbClr val="304755"/>
          </a:solidFill>
          <a:ln/>
        </p:spPr>
      </p:sp>
      <p:sp>
        <p:nvSpPr>
          <p:cNvPr id="7" name="Text 3"/>
          <p:cNvSpPr/>
          <p:nvPr/>
        </p:nvSpPr>
        <p:spPr>
          <a:xfrm>
            <a:off x="6506766" y="2705457"/>
            <a:ext cx="3199447" cy="333494"/>
          </a:xfrm>
          <a:prstGeom prst="rect">
            <a:avLst/>
          </a:prstGeom>
          <a:noFill/>
          <a:ln/>
        </p:spPr>
        <p:txBody>
          <a:bodyPr wrap="none" rtlCol="0" anchor="t"/>
          <a:lstStyle/>
          <a:p>
            <a:pPr indent="0" marL="0">
              <a:lnSpc>
                <a:spcPts val="2626"/>
              </a:lnSpc>
              <a:buNone/>
            </a:pPr>
            <a:r>
              <a:rPr lang="en-US" sz="2101" dirty="0">
                <a:solidFill>
                  <a:srgbClr val="CAD6DE"/>
                </a:solidFill>
                <a:latin typeface="Unbounded" pitchFamily="34" charset="0"/>
                <a:ea typeface="Unbounded" pitchFamily="34" charset="-122"/>
                <a:cs typeface="Unbounded" pitchFamily="34" charset="-120"/>
              </a:rPr>
              <a:t>Infrastructure Gaps</a:t>
            </a:r>
            <a:endParaRPr lang="en-US" sz="2101" dirty="0"/>
          </a:p>
        </p:txBody>
      </p:sp>
      <p:sp>
        <p:nvSpPr>
          <p:cNvPr id="8" name="Text 4"/>
          <p:cNvSpPr/>
          <p:nvPr/>
        </p:nvSpPr>
        <p:spPr>
          <a:xfrm>
            <a:off x="6506766" y="3174921"/>
            <a:ext cx="3211592" cy="1088708"/>
          </a:xfrm>
          <a:prstGeom prst="rect">
            <a:avLst/>
          </a:prstGeom>
          <a:noFill/>
          <a:ln/>
        </p:spPr>
        <p:txBody>
          <a:bodyPr wrap="square" rtlCol="0" anchor="t"/>
          <a:lstStyle/>
          <a:p>
            <a:pPr indent="0" marL="0">
              <a:lnSpc>
                <a:spcPts val="2857"/>
              </a:lnSpc>
              <a:buNone/>
            </a:pPr>
            <a:r>
              <a:rPr lang="en-US" sz="1786" dirty="0">
                <a:solidFill>
                  <a:srgbClr val="CAD6DE"/>
                </a:solidFill>
                <a:latin typeface="Cabin" pitchFamily="34" charset="0"/>
                <a:ea typeface="Cabin" pitchFamily="34" charset="-122"/>
                <a:cs typeface="Cabin" pitchFamily="34" charset="-120"/>
              </a:rPr>
              <a:t>Lack of grid infrastructure and distribution networks hinders universal energy access.</a:t>
            </a:r>
            <a:endParaRPr lang="en-US" sz="1786" dirty="0"/>
          </a:p>
        </p:txBody>
      </p:sp>
      <p:sp>
        <p:nvSpPr>
          <p:cNvPr id="9" name="Shape 5"/>
          <p:cNvSpPr/>
          <p:nvPr/>
        </p:nvSpPr>
        <p:spPr>
          <a:xfrm>
            <a:off x="10171748" y="2478762"/>
            <a:ext cx="3664982" cy="2374463"/>
          </a:xfrm>
          <a:prstGeom prst="roundRect">
            <a:avLst>
              <a:gd name="adj" fmla="val 1433"/>
            </a:avLst>
          </a:prstGeom>
          <a:solidFill>
            <a:srgbClr val="304755"/>
          </a:solidFill>
          <a:ln/>
        </p:spPr>
      </p:sp>
      <p:sp>
        <p:nvSpPr>
          <p:cNvPr id="10" name="Text 6"/>
          <p:cNvSpPr/>
          <p:nvPr/>
        </p:nvSpPr>
        <p:spPr>
          <a:xfrm>
            <a:off x="10398443" y="2705457"/>
            <a:ext cx="2898338" cy="333494"/>
          </a:xfrm>
          <a:prstGeom prst="rect">
            <a:avLst/>
          </a:prstGeom>
          <a:noFill/>
          <a:ln/>
        </p:spPr>
        <p:txBody>
          <a:bodyPr wrap="none" rtlCol="0" anchor="t"/>
          <a:lstStyle/>
          <a:p>
            <a:pPr indent="0" marL="0">
              <a:lnSpc>
                <a:spcPts val="2626"/>
              </a:lnSpc>
              <a:buNone/>
            </a:pPr>
            <a:r>
              <a:rPr lang="en-US" sz="2101" dirty="0">
                <a:solidFill>
                  <a:srgbClr val="CAD6DE"/>
                </a:solidFill>
                <a:latin typeface="Unbounded" pitchFamily="34" charset="0"/>
                <a:ea typeface="Unbounded" pitchFamily="34" charset="-122"/>
                <a:cs typeface="Unbounded" pitchFamily="34" charset="-120"/>
              </a:rPr>
              <a:t>Financing Barriers</a:t>
            </a:r>
            <a:endParaRPr lang="en-US" sz="2101" dirty="0"/>
          </a:p>
        </p:txBody>
      </p:sp>
      <p:sp>
        <p:nvSpPr>
          <p:cNvPr id="11" name="Text 7"/>
          <p:cNvSpPr/>
          <p:nvPr/>
        </p:nvSpPr>
        <p:spPr>
          <a:xfrm>
            <a:off x="10398443" y="3174921"/>
            <a:ext cx="3211592" cy="1451610"/>
          </a:xfrm>
          <a:prstGeom prst="rect">
            <a:avLst/>
          </a:prstGeom>
          <a:noFill/>
          <a:ln/>
        </p:spPr>
        <p:txBody>
          <a:bodyPr wrap="square" rtlCol="0" anchor="t"/>
          <a:lstStyle/>
          <a:p>
            <a:pPr indent="0" marL="0">
              <a:lnSpc>
                <a:spcPts val="2857"/>
              </a:lnSpc>
              <a:buNone/>
            </a:pPr>
            <a:r>
              <a:rPr lang="en-US" sz="1786" dirty="0">
                <a:solidFill>
                  <a:srgbClr val="CAD6DE"/>
                </a:solidFill>
                <a:latin typeface="Cabin" pitchFamily="34" charset="0"/>
                <a:ea typeface="Cabin" pitchFamily="34" charset="-122"/>
                <a:cs typeface="Cabin" pitchFamily="34" charset="-120"/>
              </a:rPr>
              <a:t>Mobilizing the necessary investment for renewable energy and efficiency projects remains a challenge.</a:t>
            </a:r>
            <a:endParaRPr lang="en-US" sz="1786" dirty="0"/>
          </a:p>
        </p:txBody>
      </p:sp>
      <p:sp>
        <p:nvSpPr>
          <p:cNvPr id="12" name="Shape 8"/>
          <p:cNvSpPr/>
          <p:nvPr/>
        </p:nvSpPr>
        <p:spPr>
          <a:xfrm>
            <a:off x="6280071" y="5079921"/>
            <a:ext cx="3664982" cy="2345055"/>
          </a:xfrm>
          <a:prstGeom prst="roundRect">
            <a:avLst>
              <a:gd name="adj" fmla="val 1451"/>
            </a:avLst>
          </a:prstGeom>
          <a:solidFill>
            <a:srgbClr val="304755"/>
          </a:solidFill>
          <a:ln/>
        </p:spPr>
      </p:sp>
      <p:sp>
        <p:nvSpPr>
          <p:cNvPr id="13" name="Text 9"/>
          <p:cNvSpPr/>
          <p:nvPr/>
        </p:nvSpPr>
        <p:spPr>
          <a:xfrm>
            <a:off x="6506766" y="5306616"/>
            <a:ext cx="3211592" cy="666988"/>
          </a:xfrm>
          <a:prstGeom prst="rect">
            <a:avLst/>
          </a:prstGeom>
          <a:noFill/>
          <a:ln/>
        </p:spPr>
        <p:txBody>
          <a:bodyPr wrap="square" rtlCol="0" anchor="t"/>
          <a:lstStyle/>
          <a:p>
            <a:pPr indent="0" marL="0">
              <a:lnSpc>
                <a:spcPts val="2626"/>
              </a:lnSpc>
              <a:buNone/>
            </a:pPr>
            <a:r>
              <a:rPr lang="en-US" sz="2101" dirty="0">
                <a:solidFill>
                  <a:srgbClr val="CAD6DE"/>
                </a:solidFill>
                <a:latin typeface="Unbounded" pitchFamily="34" charset="0"/>
                <a:ea typeface="Unbounded" pitchFamily="34" charset="-122"/>
                <a:cs typeface="Unbounded" pitchFamily="34" charset="-120"/>
              </a:rPr>
              <a:t>Policy Inconsistencies</a:t>
            </a:r>
            <a:endParaRPr lang="en-US" sz="2101" dirty="0"/>
          </a:p>
        </p:txBody>
      </p:sp>
      <p:sp>
        <p:nvSpPr>
          <p:cNvPr id="14" name="Text 10"/>
          <p:cNvSpPr/>
          <p:nvPr/>
        </p:nvSpPr>
        <p:spPr>
          <a:xfrm>
            <a:off x="6506766" y="6109573"/>
            <a:ext cx="3211592" cy="1088708"/>
          </a:xfrm>
          <a:prstGeom prst="rect">
            <a:avLst/>
          </a:prstGeom>
          <a:noFill/>
          <a:ln/>
        </p:spPr>
        <p:txBody>
          <a:bodyPr wrap="square" rtlCol="0" anchor="t"/>
          <a:lstStyle/>
          <a:p>
            <a:pPr indent="0" marL="0">
              <a:lnSpc>
                <a:spcPts val="2857"/>
              </a:lnSpc>
              <a:buNone/>
            </a:pPr>
            <a:r>
              <a:rPr lang="en-US" sz="1786" dirty="0">
                <a:solidFill>
                  <a:srgbClr val="CAD6DE"/>
                </a:solidFill>
                <a:latin typeface="Cabin" pitchFamily="34" charset="0"/>
                <a:ea typeface="Cabin" pitchFamily="34" charset="-122"/>
                <a:cs typeface="Cabin" pitchFamily="34" charset="-120"/>
              </a:rPr>
              <a:t>Inconsistent or unstable policies can discourage private sector investment in clean energy.</a:t>
            </a:r>
            <a:endParaRPr lang="en-US" sz="1786" dirty="0"/>
          </a:p>
        </p:txBody>
      </p:sp>
      <p:sp>
        <p:nvSpPr>
          <p:cNvPr id="15" name="Shape 11"/>
          <p:cNvSpPr/>
          <p:nvPr/>
        </p:nvSpPr>
        <p:spPr>
          <a:xfrm>
            <a:off x="10171748" y="5079921"/>
            <a:ext cx="3664982" cy="2345055"/>
          </a:xfrm>
          <a:prstGeom prst="roundRect">
            <a:avLst>
              <a:gd name="adj" fmla="val 1451"/>
            </a:avLst>
          </a:prstGeom>
          <a:solidFill>
            <a:srgbClr val="304755"/>
          </a:solidFill>
          <a:ln/>
        </p:spPr>
      </p:sp>
      <p:sp>
        <p:nvSpPr>
          <p:cNvPr id="16" name="Text 12"/>
          <p:cNvSpPr/>
          <p:nvPr/>
        </p:nvSpPr>
        <p:spPr>
          <a:xfrm>
            <a:off x="10398443" y="5306616"/>
            <a:ext cx="3211592" cy="666988"/>
          </a:xfrm>
          <a:prstGeom prst="rect">
            <a:avLst/>
          </a:prstGeom>
          <a:noFill/>
          <a:ln/>
        </p:spPr>
        <p:txBody>
          <a:bodyPr wrap="square" rtlCol="0" anchor="t"/>
          <a:lstStyle/>
          <a:p>
            <a:pPr indent="0" marL="0">
              <a:lnSpc>
                <a:spcPts val="2626"/>
              </a:lnSpc>
              <a:buNone/>
            </a:pPr>
            <a:r>
              <a:rPr lang="en-US" sz="2101" dirty="0">
                <a:solidFill>
                  <a:srgbClr val="CAD6DE"/>
                </a:solidFill>
                <a:latin typeface="Unbounded" pitchFamily="34" charset="0"/>
                <a:ea typeface="Unbounded" pitchFamily="34" charset="-122"/>
                <a:cs typeface="Unbounded" pitchFamily="34" charset="-120"/>
              </a:rPr>
              <a:t>Technological Limitations</a:t>
            </a:r>
            <a:endParaRPr lang="en-US" sz="2101" dirty="0"/>
          </a:p>
        </p:txBody>
      </p:sp>
      <p:sp>
        <p:nvSpPr>
          <p:cNvPr id="17" name="Text 13"/>
          <p:cNvSpPr/>
          <p:nvPr/>
        </p:nvSpPr>
        <p:spPr>
          <a:xfrm>
            <a:off x="10398443" y="6109573"/>
            <a:ext cx="3211592" cy="1088708"/>
          </a:xfrm>
          <a:prstGeom prst="rect">
            <a:avLst/>
          </a:prstGeom>
          <a:noFill/>
          <a:ln/>
        </p:spPr>
        <p:txBody>
          <a:bodyPr wrap="square" rtlCol="0" anchor="t"/>
          <a:lstStyle/>
          <a:p>
            <a:pPr indent="0" marL="0">
              <a:lnSpc>
                <a:spcPts val="2857"/>
              </a:lnSpc>
              <a:buNone/>
            </a:pPr>
            <a:r>
              <a:rPr lang="en-US" sz="1786" dirty="0">
                <a:solidFill>
                  <a:srgbClr val="CAD6DE"/>
                </a:solidFill>
                <a:latin typeface="Cabin" pitchFamily="34" charset="0"/>
                <a:ea typeface="Cabin" pitchFamily="34" charset="-122"/>
                <a:cs typeface="Cabin" pitchFamily="34" charset="-120"/>
              </a:rPr>
              <a:t>Certain renewable technologies still face constraints in terms of cost, reliability, and scalability.</a:t>
            </a:r>
            <a:endParaRPr lang="en-US" sz="1786" dirty="0"/>
          </a:p>
        </p:txBody>
      </p:sp>
      <p:pic>
        <p:nvPicPr>
          <p:cNvPr id="1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183987" y="1013341"/>
            <a:ext cx="7748826" cy="1172289"/>
          </a:xfrm>
          <a:prstGeom prst="rect">
            <a:avLst/>
          </a:prstGeom>
          <a:noFill/>
          <a:ln/>
        </p:spPr>
        <p:txBody>
          <a:bodyPr wrap="square" rtlCol="0" anchor="t"/>
          <a:lstStyle/>
          <a:p>
            <a:pPr indent="0" marL="0">
              <a:lnSpc>
                <a:spcPts val="4616"/>
              </a:lnSpc>
              <a:buNone/>
            </a:pPr>
            <a:r>
              <a:rPr lang="en-US" sz="3693" dirty="0">
                <a:solidFill>
                  <a:srgbClr val="FFFFFF"/>
                </a:solidFill>
                <a:latin typeface="Unbounded" pitchFamily="34" charset="0"/>
                <a:ea typeface="Unbounded" pitchFamily="34" charset="-122"/>
                <a:cs typeface="Unbounded" pitchFamily="34" charset="-120"/>
              </a:rPr>
              <a:t>Opportunities for advancing SDG 7</a:t>
            </a:r>
            <a:endParaRPr lang="en-US" sz="3693" dirty="0"/>
          </a:p>
        </p:txBody>
      </p:sp>
      <p:pic>
        <p:nvPicPr>
          <p:cNvPr id="6" name="Image 2" descr="preencoded.png">    </p:cNvPr>
          <p:cNvPicPr>
            <a:picLocks noChangeAspect="1"/>
          </p:cNvPicPr>
          <p:nvPr/>
        </p:nvPicPr>
        <p:blipFill>
          <a:blip r:embed="rId3"/>
          <a:stretch>
            <a:fillRect/>
          </a:stretch>
        </p:blipFill>
        <p:spPr>
          <a:xfrm>
            <a:off x="6183987" y="2484596"/>
            <a:ext cx="498277" cy="498277"/>
          </a:xfrm>
          <a:prstGeom prst="rect">
            <a:avLst/>
          </a:prstGeom>
        </p:spPr>
      </p:pic>
      <p:sp>
        <p:nvSpPr>
          <p:cNvPr id="7" name="Text 2"/>
          <p:cNvSpPr/>
          <p:nvPr/>
        </p:nvSpPr>
        <p:spPr>
          <a:xfrm>
            <a:off x="6183987" y="3182183"/>
            <a:ext cx="2580442" cy="293132"/>
          </a:xfrm>
          <a:prstGeom prst="rect">
            <a:avLst/>
          </a:prstGeom>
          <a:noFill/>
          <a:ln/>
        </p:spPr>
        <p:txBody>
          <a:bodyPr wrap="none" rtlCol="0" anchor="t"/>
          <a:lstStyle/>
          <a:p>
            <a:pPr algn="l" indent="0" marL="0">
              <a:lnSpc>
                <a:spcPts val="2308"/>
              </a:lnSpc>
              <a:buNone/>
            </a:pPr>
            <a:r>
              <a:rPr lang="en-US" sz="1847" dirty="0">
                <a:solidFill>
                  <a:srgbClr val="CAD6DE"/>
                </a:solidFill>
                <a:latin typeface="Unbounded" pitchFamily="34" charset="0"/>
                <a:ea typeface="Unbounded" pitchFamily="34" charset="-122"/>
                <a:cs typeface="Unbounded" pitchFamily="34" charset="-120"/>
              </a:rPr>
              <a:t>Renewable Energy</a:t>
            </a:r>
            <a:endParaRPr lang="en-US" sz="1847" dirty="0"/>
          </a:p>
        </p:txBody>
      </p:sp>
      <p:sp>
        <p:nvSpPr>
          <p:cNvPr id="8" name="Text 3"/>
          <p:cNvSpPr/>
          <p:nvPr/>
        </p:nvSpPr>
        <p:spPr>
          <a:xfrm>
            <a:off x="6183987" y="3594854"/>
            <a:ext cx="3724870" cy="956548"/>
          </a:xfrm>
          <a:prstGeom prst="rect">
            <a:avLst/>
          </a:prstGeom>
          <a:noFill/>
          <a:ln/>
        </p:spPr>
        <p:txBody>
          <a:bodyPr wrap="square" rtlCol="0" anchor="t"/>
          <a:lstStyle/>
          <a:p>
            <a:pPr algn="l" indent="0" marL="0">
              <a:lnSpc>
                <a:spcPts val="2511"/>
              </a:lnSpc>
              <a:buNone/>
            </a:pPr>
            <a:r>
              <a:rPr lang="en-US" sz="1570" dirty="0">
                <a:solidFill>
                  <a:srgbClr val="CAD6DE"/>
                </a:solidFill>
                <a:latin typeface="Cabin" pitchFamily="34" charset="0"/>
                <a:ea typeface="Cabin" pitchFamily="34" charset="-122"/>
                <a:cs typeface="Cabin" pitchFamily="34" charset="-120"/>
              </a:rPr>
              <a:t>Rapidly falling costs and technological advancements in renewable energy sources like solar and wind.</a:t>
            </a:r>
            <a:endParaRPr lang="en-US" sz="1570" dirty="0"/>
          </a:p>
        </p:txBody>
      </p:sp>
      <p:pic>
        <p:nvPicPr>
          <p:cNvPr id="9" name="Image 3" descr="preencoded.png">    </p:cNvPr>
          <p:cNvPicPr>
            <a:picLocks noChangeAspect="1"/>
          </p:cNvPicPr>
          <p:nvPr/>
        </p:nvPicPr>
        <p:blipFill>
          <a:blip r:embed="rId4"/>
          <a:stretch>
            <a:fillRect/>
          </a:stretch>
        </p:blipFill>
        <p:spPr>
          <a:xfrm>
            <a:off x="10207823" y="2484596"/>
            <a:ext cx="498277" cy="498277"/>
          </a:xfrm>
          <a:prstGeom prst="rect">
            <a:avLst/>
          </a:prstGeom>
        </p:spPr>
      </p:pic>
      <p:sp>
        <p:nvSpPr>
          <p:cNvPr id="10" name="Text 4"/>
          <p:cNvSpPr/>
          <p:nvPr/>
        </p:nvSpPr>
        <p:spPr>
          <a:xfrm>
            <a:off x="10207823" y="3182183"/>
            <a:ext cx="2434233" cy="293132"/>
          </a:xfrm>
          <a:prstGeom prst="rect">
            <a:avLst/>
          </a:prstGeom>
          <a:noFill/>
          <a:ln/>
        </p:spPr>
        <p:txBody>
          <a:bodyPr wrap="none" rtlCol="0" anchor="t"/>
          <a:lstStyle/>
          <a:p>
            <a:pPr algn="l" indent="0" marL="0">
              <a:lnSpc>
                <a:spcPts val="2308"/>
              </a:lnSpc>
              <a:buNone/>
            </a:pPr>
            <a:r>
              <a:rPr lang="en-US" sz="1847" dirty="0">
                <a:solidFill>
                  <a:srgbClr val="CAD6DE"/>
                </a:solidFill>
                <a:latin typeface="Unbounded" pitchFamily="34" charset="0"/>
                <a:ea typeface="Unbounded" pitchFamily="34" charset="-122"/>
                <a:cs typeface="Unbounded" pitchFamily="34" charset="-120"/>
              </a:rPr>
              <a:t>Energy Efficiency</a:t>
            </a:r>
            <a:endParaRPr lang="en-US" sz="1847" dirty="0"/>
          </a:p>
        </p:txBody>
      </p:sp>
      <p:sp>
        <p:nvSpPr>
          <p:cNvPr id="11" name="Text 5"/>
          <p:cNvSpPr/>
          <p:nvPr/>
        </p:nvSpPr>
        <p:spPr>
          <a:xfrm>
            <a:off x="10207823" y="3594854"/>
            <a:ext cx="3724989" cy="956548"/>
          </a:xfrm>
          <a:prstGeom prst="rect">
            <a:avLst/>
          </a:prstGeom>
          <a:noFill/>
          <a:ln/>
        </p:spPr>
        <p:txBody>
          <a:bodyPr wrap="square" rtlCol="0" anchor="t"/>
          <a:lstStyle/>
          <a:p>
            <a:pPr algn="l" indent="0" marL="0">
              <a:lnSpc>
                <a:spcPts val="2511"/>
              </a:lnSpc>
              <a:buNone/>
            </a:pPr>
            <a:r>
              <a:rPr lang="en-US" sz="1570" dirty="0">
                <a:solidFill>
                  <a:srgbClr val="CAD6DE"/>
                </a:solidFill>
                <a:latin typeface="Cabin" pitchFamily="34" charset="0"/>
                <a:ea typeface="Cabin" pitchFamily="34" charset="-122"/>
                <a:cs typeface="Cabin" pitchFamily="34" charset="-120"/>
              </a:rPr>
              <a:t>Improved energy-efficient technologies can significantly reduce energy consumption and costs.</a:t>
            </a:r>
            <a:endParaRPr lang="en-US" sz="1570" dirty="0"/>
          </a:p>
        </p:txBody>
      </p:sp>
      <p:pic>
        <p:nvPicPr>
          <p:cNvPr id="12" name="Image 4" descr="preencoded.png">    </p:cNvPr>
          <p:cNvPicPr>
            <a:picLocks noChangeAspect="1"/>
          </p:cNvPicPr>
          <p:nvPr/>
        </p:nvPicPr>
        <p:blipFill>
          <a:blip r:embed="rId5"/>
          <a:stretch>
            <a:fillRect/>
          </a:stretch>
        </p:blipFill>
        <p:spPr>
          <a:xfrm>
            <a:off x="6183987" y="5149334"/>
            <a:ext cx="498277" cy="498277"/>
          </a:xfrm>
          <a:prstGeom prst="rect">
            <a:avLst/>
          </a:prstGeom>
        </p:spPr>
      </p:pic>
      <p:sp>
        <p:nvSpPr>
          <p:cNvPr id="13" name="Text 6"/>
          <p:cNvSpPr/>
          <p:nvPr/>
        </p:nvSpPr>
        <p:spPr>
          <a:xfrm>
            <a:off x="6183987" y="5846921"/>
            <a:ext cx="2689979" cy="293132"/>
          </a:xfrm>
          <a:prstGeom prst="rect">
            <a:avLst/>
          </a:prstGeom>
          <a:noFill/>
          <a:ln/>
        </p:spPr>
        <p:txBody>
          <a:bodyPr wrap="none" rtlCol="0" anchor="t"/>
          <a:lstStyle/>
          <a:p>
            <a:pPr algn="l" indent="0" marL="0">
              <a:lnSpc>
                <a:spcPts val="2308"/>
              </a:lnSpc>
              <a:buNone/>
            </a:pPr>
            <a:r>
              <a:rPr lang="en-US" sz="1847" dirty="0">
                <a:solidFill>
                  <a:srgbClr val="CAD6DE"/>
                </a:solidFill>
                <a:latin typeface="Unbounded" pitchFamily="34" charset="0"/>
                <a:ea typeface="Unbounded" pitchFamily="34" charset="-122"/>
                <a:cs typeface="Unbounded" pitchFamily="34" charset="-120"/>
              </a:rPr>
              <a:t>Grid Modernization</a:t>
            </a:r>
            <a:endParaRPr lang="en-US" sz="1847" dirty="0"/>
          </a:p>
        </p:txBody>
      </p:sp>
      <p:sp>
        <p:nvSpPr>
          <p:cNvPr id="14" name="Text 7"/>
          <p:cNvSpPr/>
          <p:nvPr/>
        </p:nvSpPr>
        <p:spPr>
          <a:xfrm>
            <a:off x="6183987" y="6259592"/>
            <a:ext cx="3724870" cy="956548"/>
          </a:xfrm>
          <a:prstGeom prst="rect">
            <a:avLst/>
          </a:prstGeom>
          <a:noFill/>
          <a:ln/>
        </p:spPr>
        <p:txBody>
          <a:bodyPr wrap="square" rtlCol="0" anchor="t"/>
          <a:lstStyle/>
          <a:p>
            <a:pPr algn="l" indent="0" marL="0">
              <a:lnSpc>
                <a:spcPts val="2511"/>
              </a:lnSpc>
              <a:buNone/>
            </a:pPr>
            <a:r>
              <a:rPr lang="en-US" sz="1570" dirty="0">
                <a:solidFill>
                  <a:srgbClr val="CAD6DE"/>
                </a:solidFill>
                <a:latin typeface="Cabin" pitchFamily="34" charset="0"/>
                <a:ea typeface="Cabin" pitchFamily="34" charset="-122"/>
                <a:cs typeface="Cabin" pitchFamily="34" charset="-120"/>
              </a:rPr>
              <a:t>Investments in smart grid infrastructure can improve energy access and system reliability.</a:t>
            </a:r>
            <a:endParaRPr lang="en-US" sz="1570" dirty="0"/>
          </a:p>
        </p:txBody>
      </p:sp>
      <p:pic>
        <p:nvPicPr>
          <p:cNvPr id="15" name="Image 5" descr="preencoded.png">    </p:cNvPr>
          <p:cNvPicPr>
            <a:picLocks noChangeAspect="1"/>
          </p:cNvPicPr>
          <p:nvPr/>
        </p:nvPicPr>
        <p:blipFill>
          <a:blip r:embed="rId6"/>
          <a:stretch>
            <a:fillRect/>
          </a:stretch>
        </p:blipFill>
        <p:spPr>
          <a:xfrm>
            <a:off x="10207823" y="5149334"/>
            <a:ext cx="498277" cy="498277"/>
          </a:xfrm>
          <a:prstGeom prst="rect">
            <a:avLst/>
          </a:prstGeom>
        </p:spPr>
      </p:pic>
      <p:sp>
        <p:nvSpPr>
          <p:cNvPr id="16" name="Text 8"/>
          <p:cNvSpPr/>
          <p:nvPr/>
        </p:nvSpPr>
        <p:spPr>
          <a:xfrm>
            <a:off x="10207823" y="5846921"/>
            <a:ext cx="3063835" cy="293132"/>
          </a:xfrm>
          <a:prstGeom prst="rect">
            <a:avLst/>
          </a:prstGeom>
          <a:noFill/>
          <a:ln/>
        </p:spPr>
        <p:txBody>
          <a:bodyPr wrap="none" rtlCol="0" anchor="t"/>
          <a:lstStyle/>
          <a:p>
            <a:pPr algn="l" indent="0" marL="0">
              <a:lnSpc>
                <a:spcPts val="2308"/>
              </a:lnSpc>
              <a:buNone/>
            </a:pPr>
            <a:r>
              <a:rPr lang="en-US" sz="1847" dirty="0">
                <a:solidFill>
                  <a:srgbClr val="CAD6DE"/>
                </a:solidFill>
                <a:latin typeface="Unbounded" pitchFamily="34" charset="0"/>
                <a:ea typeface="Unbounded" pitchFamily="34" charset="-122"/>
                <a:cs typeface="Unbounded" pitchFamily="34" charset="-120"/>
              </a:rPr>
              <a:t>Financing Innovations</a:t>
            </a:r>
            <a:endParaRPr lang="en-US" sz="1847" dirty="0"/>
          </a:p>
        </p:txBody>
      </p:sp>
      <p:sp>
        <p:nvSpPr>
          <p:cNvPr id="17" name="Text 9"/>
          <p:cNvSpPr/>
          <p:nvPr/>
        </p:nvSpPr>
        <p:spPr>
          <a:xfrm>
            <a:off x="10207823" y="6259592"/>
            <a:ext cx="3724989" cy="956548"/>
          </a:xfrm>
          <a:prstGeom prst="rect">
            <a:avLst/>
          </a:prstGeom>
          <a:noFill/>
          <a:ln/>
        </p:spPr>
        <p:txBody>
          <a:bodyPr wrap="square" rtlCol="0" anchor="t"/>
          <a:lstStyle/>
          <a:p>
            <a:pPr algn="l" indent="0" marL="0">
              <a:lnSpc>
                <a:spcPts val="2511"/>
              </a:lnSpc>
              <a:buNone/>
            </a:pPr>
            <a:r>
              <a:rPr lang="en-US" sz="1570" dirty="0">
                <a:solidFill>
                  <a:srgbClr val="CAD6DE"/>
                </a:solidFill>
                <a:latin typeface="Cabin" pitchFamily="34" charset="0"/>
                <a:ea typeface="Cabin" pitchFamily="34" charset="-122"/>
                <a:cs typeface="Cabin" pitchFamily="34" charset="-120"/>
              </a:rPr>
              <a:t>Innovative financing mechanisms can mobilize the necessary investments for clean energy projects.</a:t>
            </a:r>
            <a:endParaRPr lang="en-US" sz="1570" dirty="0"/>
          </a:p>
        </p:txBody>
      </p:sp>
      <p:pic>
        <p:nvPicPr>
          <p:cNvPr id="18" name="Image 6" descr="preencoded.png">
            <a:hlinkClick r:id="rId8" tooltip=""/>
          </p:cNvPr>
          <p:cNvPicPr>
            <a:picLocks noChangeAspect="1"/>
          </p:cNvPicPr>
          <p:nvPr/>
        </p:nvPicPr>
        <p:blipFill>
          <a:blip r:embed="rId7"/>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r>
          <p:cNvPicPr>
            <a:picLocks noChangeAspect="1"/>
          </p:cNvPicPr>
          <p:nvPr/>
        </p:nvPicPr>
        <p:blipFill>
          <a:blip r:embed="rId2"/>
          <a:stretch>
            <a:fillRect/>
          </a:stretch>
        </p:blipFill>
        <p:spPr>
          <a:xfrm>
            <a:off x="0" y="0"/>
            <a:ext cx="14630400" cy="2451854"/>
          </a:xfrm>
          <a:prstGeom prst="rect">
            <a:avLst/>
          </a:prstGeom>
        </p:spPr>
      </p:pic>
      <p:sp>
        <p:nvSpPr>
          <p:cNvPr id="5" name="Text 1"/>
          <p:cNvSpPr/>
          <p:nvPr/>
        </p:nvSpPr>
        <p:spPr>
          <a:xfrm>
            <a:off x="1211342" y="3437334"/>
            <a:ext cx="11276767" cy="576858"/>
          </a:xfrm>
          <a:prstGeom prst="rect">
            <a:avLst/>
          </a:prstGeom>
          <a:noFill/>
          <a:ln/>
        </p:spPr>
        <p:txBody>
          <a:bodyPr wrap="none" rtlCol="0" anchor="t"/>
          <a:lstStyle/>
          <a:p>
            <a:pPr indent="0" marL="0">
              <a:lnSpc>
                <a:spcPts val="4543"/>
              </a:lnSpc>
              <a:buNone/>
            </a:pPr>
            <a:r>
              <a:rPr lang="en-US" sz="3634" dirty="0">
                <a:solidFill>
                  <a:srgbClr val="FFFFFF"/>
                </a:solidFill>
                <a:latin typeface="Unbounded" pitchFamily="34" charset="0"/>
                <a:ea typeface="Unbounded" pitchFamily="34" charset="-122"/>
                <a:cs typeface="Unbounded" pitchFamily="34" charset="-120"/>
              </a:rPr>
              <a:t>Partnerships and collaboration for SDG 7</a:t>
            </a:r>
            <a:endParaRPr lang="en-US" sz="3634" dirty="0"/>
          </a:p>
        </p:txBody>
      </p:sp>
      <p:pic>
        <p:nvPicPr>
          <p:cNvPr id="6" name="Image 2" descr="preencoded.png">    </p:cNvPr>
          <p:cNvPicPr>
            <a:picLocks noChangeAspect="1"/>
          </p:cNvPicPr>
          <p:nvPr/>
        </p:nvPicPr>
        <p:blipFill>
          <a:blip r:embed="rId3"/>
          <a:stretch>
            <a:fillRect/>
          </a:stretch>
        </p:blipFill>
        <p:spPr>
          <a:xfrm>
            <a:off x="1211342" y="4308396"/>
            <a:ext cx="3051929" cy="784503"/>
          </a:xfrm>
          <a:prstGeom prst="rect">
            <a:avLst/>
          </a:prstGeom>
        </p:spPr>
      </p:pic>
      <p:sp>
        <p:nvSpPr>
          <p:cNvPr id="7" name="Text 2"/>
          <p:cNvSpPr/>
          <p:nvPr/>
        </p:nvSpPr>
        <p:spPr>
          <a:xfrm>
            <a:off x="1407438" y="5387102"/>
            <a:ext cx="2307669" cy="288369"/>
          </a:xfrm>
          <a:prstGeom prst="rect">
            <a:avLst/>
          </a:prstGeom>
          <a:noFill/>
          <a:ln/>
        </p:spPr>
        <p:txBody>
          <a:bodyPr wrap="none" rtlCol="0" anchor="t"/>
          <a:lstStyle/>
          <a:p>
            <a:pPr algn="l" indent="0" marL="0">
              <a:lnSpc>
                <a:spcPts val="2271"/>
              </a:lnSpc>
              <a:buNone/>
            </a:pPr>
            <a:r>
              <a:rPr lang="en-US" sz="1817" dirty="0">
                <a:solidFill>
                  <a:srgbClr val="CAD6DE"/>
                </a:solidFill>
                <a:latin typeface="Unbounded" pitchFamily="34" charset="0"/>
                <a:ea typeface="Unbounded" pitchFamily="34" charset="-122"/>
                <a:cs typeface="Unbounded" pitchFamily="34" charset="-120"/>
              </a:rPr>
              <a:t>Government</a:t>
            </a:r>
            <a:endParaRPr lang="en-US" sz="1817" dirty="0"/>
          </a:p>
        </p:txBody>
      </p:sp>
      <p:sp>
        <p:nvSpPr>
          <p:cNvPr id="8" name="Text 3"/>
          <p:cNvSpPr/>
          <p:nvPr/>
        </p:nvSpPr>
        <p:spPr>
          <a:xfrm>
            <a:off x="1407438" y="5793105"/>
            <a:ext cx="2659737" cy="1254919"/>
          </a:xfrm>
          <a:prstGeom prst="rect">
            <a:avLst/>
          </a:prstGeom>
          <a:noFill/>
          <a:ln/>
        </p:spPr>
        <p:txBody>
          <a:bodyPr wrap="square" rtlCol="0" anchor="t"/>
          <a:lstStyle/>
          <a:p>
            <a:pPr algn="l" indent="0" marL="0">
              <a:lnSpc>
                <a:spcPts val="2471"/>
              </a:lnSpc>
              <a:buNone/>
            </a:pPr>
            <a:r>
              <a:rPr lang="en-US" sz="1545" dirty="0">
                <a:solidFill>
                  <a:srgbClr val="CAD6DE"/>
                </a:solidFill>
                <a:latin typeface="Cabin" pitchFamily="34" charset="0"/>
                <a:ea typeface="Cabin" pitchFamily="34" charset="-122"/>
                <a:cs typeface="Cabin" pitchFamily="34" charset="-120"/>
              </a:rPr>
              <a:t>Policymakers and regulators set the enabling environment through policies, incentives, and regulations.</a:t>
            </a:r>
            <a:endParaRPr lang="en-US" sz="1545" dirty="0"/>
          </a:p>
        </p:txBody>
      </p:sp>
      <p:pic>
        <p:nvPicPr>
          <p:cNvPr id="9" name="Image 3" descr="preencoded.png">    </p:cNvPr>
          <p:cNvPicPr>
            <a:picLocks noChangeAspect="1"/>
          </p:cNvPicPr>
          <p:nvPr/>
        </p:nvPicPr>
        <p:blipFill>
          <a:blip r:embed="rId4"/>
          <a:stretch>
            <a:fillRect/>
          </a:stretch>
        </p:blipFill>
        <p:spPr>
          <a:xfrm>
            <a:off x="4263271" y="4308396"/>
            <a:ext cx="3051929" cy="784503"/>
          </a:xfrm>
          <a:prstGeom prst="rect">
            <a:avLst/>
          </a:prstGeom>
        </p:spPr>
      </p:pic>
      <p:sp>
        <p:nvSpPr>
          <p:cNvPr id="10" name="Text 4"/>
          <p:cNvSpPr/>
          <p:nvPr/>
        </p:nvSpPr>
        <p:spPr>
          <a:xfrm>
            <a:off x="4459367" y="5387102"/>
            <a:ext cx="2307669" cy="288369"/>
          </a:xfrm>
          <a:prstGeom prst="rect">
            <a:avLst/>
          </a:prstGeom>
          <a:noFill/>
          <a:ln/>
        </p:spPr>
        <p:txBody>
          <a:bodyPr wrap="none" rtlCol="0" anchor="t"/>
          <a:lstStyle/>
          <a:p>
            <a:pPr algn="l" indent="0" marL="0">
              <a:lnSpc>
                <a:spcPts val="2271"/>
              </a:lnSpc>
              <a:buNone/>
            </a:pPr>
            <a:r>
              <a:rPr lang="en-US" sz="1817" dirty="0">
                <a:solidFill>
                  <a:srgbClr val="CAD6DE"/>
                </a:solidFill>
                <a:latin typeface="Unbounded" pitchFamily="34" charset="0"/>
                <a:ea typeface="Unbounded" pitchFamily="34" charset="-122"/>
                <a:cs typeface="Unbounded" pitchFamily="34" charset="-120"/>
              </a:rPr>
              <a:t>Private Sector</a:t>
            </a:r>
            <a:endParaRPr lang="en-US" sz="1817" dirty="0"/>
          </a:p>
        </p:txBody>
      </p:sp>
      <p:sp>
        <p:nvSpPr>
          <p:cNvPr id="11" name="Text 5"/>
          <p:cNvSpPr/>
          <p:nvPr/>
        </p:nvSpPr>
        <p:spPr>
          <a:xfrm>
            <a:off x="4459367" y="5793105"/>
            <a:ext cx="2659737" cy="1254919"/>
          </a:xfrm>
          <a:prstGeom prst="rect">
            <a:avLst/>
          </a:prstGeom>
          <a:noFill/>
          <a:ln/>
        </p:spPr>
        <p:txBody>
          <a:bodyPr wrap="square" rtlCol="0" anchor="t"/>
          <a:lstStyle/>
          <a:p>
            <a:pPr algn="l" indent="0" marL="0">
              <a:lnSpc>
                <a:spcPts val="2471"/>
              </a:lnSpc>
              <a:buNone/>
            </a:pPr>
            <a:r>
              <a:rPr lang="en-US" sz="1545" dirty="0">
                <a:solidFill>
                  <a:srgbClr val="CAD6DE"/>
                </a:solidFill>
                <a:latin typeface="Cabin" pitchFamily="34" charset="0"/>
                <a:ea typeface="Cabin" pitchFamily="34" charset="-122"/>
                <a:cs typeface="Cabin" pitchFamily="34" charset="-120"/>
              </a:rPr>
              <a:t>Businesses invest in clean energy projects and drive innovation in technology and financing.</a:t>
            </a:r>
            <a:endParaRPr lang="en-US" sz="1545" dirty="0"/>
          </a:p>
        </p:txBody>
      </p:sp>
      <p:pic>
        <p:nvPicPr>
          <p:cNvPr id="12" name="Image 4" descr="preencoded.png">    </p:cNvPr>
          <p:cNvPicPr>
            <a:picLocks noChangeAspect="1"/>
          </p:cNvPicPr>
          <p:nvPr/>
        </p:nvPicPr>
        <p:blipFill>
          <a:blip r:embed="rId5"/>
          <a:stretch>
            <a:fillRect/>
          </a:stretch>
        </p:blipFill>
        <p:spPr>
          <a:xfrm>
            <a:off x="7315200" y="4308396"/>
            <a:ext cx="3051929" cy="784503"/>
          </a:xfrm>
          <a:prstGeom prst="rect">
            <a:avLst/>
          </a:prstGeom>
        </p:spPr>
      </p:pic>
      <p:sp>
        <p:nvSpPr>
          <p:cNvPr id="13" name="Text 6"/>
          <p:cNvSpPr/>
          <p:nvPr/>
        </p:nvSpPr>
        <p:spPr>
          <a:xfrm>
            <a:off x="7511296" y="5387102"/>
            <a:ext cx="2307669" cy="288369"/>
          </a:xfrm>
          <a:prstGeom prst="rect">
            <a:avLst/>
          </a:prstGeom>
          <a:noFill/>
          <a:ln/>
        </p:spPr>
        <p:txBody>
          <a:bodyPr wrap="none" rtlCol="0" anchor="t"/>
          <a:lstStyle/>
          <a:p>
            <a:pPr algn="l" indent="0" marL="0">
              <a:lnSpc>
                <a:spcPts val="2271"/>
              </a:lnSpc>
              <a:buNone/>
            </a:pPr>
            <a:r>
              <a:rPr lang="en-US" sz="1817" dirty="0">
                <a:solidFill>
                  <a:srgbClr val="CAD6DE"/>
                </a:solidFill>
                <a:latin typeface="Unbounded" pitchFamily="34" charset="0"/>
                <a:ea typeface="Unbounded" pitchFamily="34" charset="-122"/>
                <a:cs typeface="Unbounded" pitchFamily="34" charset="-120"/>
              </a:rPr>
              <a:t>Civil Society</a:t>
            </a:r>
            <a:endParaRPr lang="en-US" sz="1817" dirty="0"/>
          </a:p>
        </p:txBody>
      </p:sp>
      <p:sp>
        <p:nvSpPr>
          <p:cNvPr id="14" name="Text 7"/>
          <p:cNvSpPr/>
          <p:nvPr/>
        </p:nvSpPr>
        <p:spPr>
          <a:xfrm>
            <a:off x="7511296" y="5793105"/>
            <a:ext cx="2659737" cy="941189"/>
          </a:xfrm>
          <a:prstGeom prst="rect">
            <a:avLst/>
          </a:prstGeom>
          <a:noFill/>
          <a:ln/>
        </p:spPr>
        <p:txBody>
          <a:bodyPr wrap="square" rtlCol="0" anchor="t"/>
          <a:lstStyle/>
          <a:p>
            <a:pPr algn="l" indent="0" marL="0">
              <a:lnSpc>
                <a:spcPts val="2471"/>
              </a:lnSpc>
              <a:buNone/>
            </a:pPr>
            <a:r>
              <a:rPr lang="en-US" sz="1545" dirty="0">
                <a:solidFill>
                  <a:srgbClr val="CAD6DE"/>
                </a:solidFill>
                <a:latin typeface="Cabin" pitchFamily="34" charset="0"/>
                <a:ea typeface="Cabin" pitchFamily="34" charset="-122"/>
                <a:cs typeface="Cabin" pitchFamily="34" charset="-120"/>
              </a:rPr>
              <a:t>NGOs and community groups advocate for energy access and sustainable energy solutions.</a:t>
            </a:r>
            <a:endParaRPr lang="en-US" sz="1545" dirty="0"/>
          </a:p>
        </p:txBody>
      </p:sp>
      <p:pic>
        <p:nvPicPr>
          <p:cNvPr id="15" name="Image 5" descr="preencoded.png">    </p:cNvPr>
          <p:cNvPicPr>
            <a:picLocks noChangeAspect="1"/>
          </p:cNvPicPr>
          <p:nvPr/>
        </p:nvPicPr>
        <p:blipFill>
          <a:blip r:embed="rId6"/>
          <a:stretch>
            <a:fillRect/>
          </a:stretch>
        </p:blipFill>
        <p:spPr>
          <a:xfrm>
            <a:off x="10367129" y="4308396"/>
            <a:ext cx="3051929" cy="784503"/>
          </a:xfrm>
          <a:prstGeom prst="rect">
            <a:avLst/>
          </a:prstGeom>
        </p:spPr>
      </p:pic>
      <p:sp>
        <p:nvSpPr>
          <p:cNvPr id="16" name="Text 8"/>
          <p:cNvSpPr/>
          <p:nvPr/>
        </p:nvSpPr>
        <p:spPr>
          <a:xfrm>
            <a:off x="10563225" y="5387102"/>
            <a:ext cx="2659737" cy="576739"/>
          </a:xfrm>
          <a:prstGeom prst="rect">
            <a:avLst/>
          </a:prstGeom>
          <a:noFill/>
          <a:ln/>
        </p:spPr>
        <p:txBody>
          <a:bodyPr wrap="square" rtlCol="0" anchor="t"/>
          <a:lstStyle/>
          <a:p>
            <a:pPr algn="l" indent="0" marL="0">
              <a:lnSpc>
                <a:spcPts val="2271"/>
              </a:lnSpc>
              <a:buNone/>
            </a:pPr>
            <a:r>
              <a:rPr lang="en-US" sz="1817" dirty="0">
                <a:solidFill>
                  <a:srgbClr val="CAD6DE"/>
                </a:solidFill>
                <a:latin typeface="Unbounded" pitchFamily="34" charset="0"/>
                <a:ea typeface="Unbounded" pitchFamily="34" charset="-122"/>
                <a:cs typeface="Unbounded" pitchFamily="34" charset="-120"/>
              </a:rPr>
              <a:t>International Cooperation</a:t>
            </a:r>
            <a:endParaRPr lang="en-US" sz="1817" dirty="0"/>
          </a:p>
        </p:txBody>
      </p:sp>
      <p:sp>
        <p:nvSpPr>
          <p:cNvPr id="17" name="Text 9"/>
          <p:cNvSpPr/>
          <p:nvPr/>
        </p:nvSpPr>
        <p:spPr>
          <a:xfrm>
            <a:off x="10563225" y="6081474"/>
            <a:ext cx="2659737" cy="941189"/>
          </a:xfrm>
          <a:prstGeom prst="rect">
            <a:avLst/>
          </a:prstGeom>
          <a:noFill/>
          <a:ln/>
        </p:spPr>
        <p:txBody>
          <a:bodyPr wrap="square" rtlCol="0" anchor="t"/>
          <a:lstStyle/>
          <a:p>
            <a:pPr algn="l" indent="0" marL="0">
              <a:lnSpc>
                <a:spcPts val="2471"/>
              </a:lnSpc>
              <a:buNone/>
            </a:pPr>
            <a:r>
              <a:rPr lang="en-US" sz="1545" dirty="0">
                <a:solidFill>
                  <a:srgbClr val="CAD6DE"/>
                </a:solidFill>
                <a:latin typeface="Cabin" pitchFamily="34" charset="0"/>
                <a:ea typeface="Cabin" pitchFamily="34" charset="-122"/>
                <a:cs typeface="Cabin" pitchFamily="34" charset="-120"/>
              </a:rPr>
              <a:t>Global partnerships and initiatives mobilize resources and share best practices.</a:t>
            </a:r>
            <a:endParaRPr lang="en-US" sz="1545" dirty="0"/>
          </a:p>
        </p:txBody>
      </p:sp>
      <p:pic>
        <p:nvPicPr>
          <p:cNvPr id="18" name="Image 6" descr="preencoded.png">
            <a:hlinkClick r:id="rId8" tooltip=""/>
          </p:cNvPr>
          <p:cNvPicPr>
            <a:picLocks noChangeAspect="1"/>
          </p:cNvPicPr>
          <p:nvPr/>
        </p:nvPicPr>
        <p:blipFill>
          <a:blip r:embed="rId7"/>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837724" y="2133719"/>
            <a:ext cx="12954952" cy="1408033"/>
          </a:xfrm>
          <a:prstGeom prst="rect">
            <a:avLst/>
          </a:prstGeom>
          <a:noFill/>
          <a:ln/>
        </p:spPr>
        <p:txBody>
          <a:bodyPr wrap="square" rtlCol="0" anchor="t"/>
          <a:lstStyle/>
          <a:p>
            <a:pPr indent="0" marL="0">
              <a:lnSpc>
                <a:spcPts val="5544"/>
              </a:lnSpc>
              <a:buNone/>
            </a:pPr>
            <a:r>
              <a:rPr lang="en-US" sz="4435" dirty="0">
                <a:solidFill>
                  <a:srgbClr val="FFFFFF"/>
                </a:solidFill>
                <a:latin typeface="Unbounded" pitchFamily="34" charset="0"/>
                <a:ea typeface="Unbounded" pitchFamily="34" charset="-122"/>
                <a:cs typeface="Unbounded" pitchFamily="34" charset="-120"/>
              </a:rPr>
              <a:t>How our organization can contribute to SDG 7</a:t>
            </a:r>
            <a:endParaRPr lang="en-US" sz="4435" dirty="0"/>
          </a:p>
        </p:txBody>
      </p:sp>
      <p:sp>
        <p:nvSpPr>
          <p:cNvPr id="5" name="Text 2"/>
          <p:cNvSpPr/>
          <p:nvPr/>
        </p:nvSpPr>
        <p:spPr>
          <a:xfrm>
            <a:off x="837724" y="4140041"/>
            <a:ext cx="2816185" cy="351949"/>
          </a:xfrm>
          <a:prstGeom prst="rect">
            <a:avLst/>
          </a:prstGeom>
          <a:noFill/>
          <a:ln/>
        </p:spPr>
        <p:txBody>
          <a:bodyPr wrap="none" rtlCol="0" anchor="t"/>
          <a:lstStyle/>
          <a:p>
            <a:pPr indent="0" marL="0">
              <a:lnSpc>
                <a:spcPts val="2772"/>
              </a:lnSpc>
              <a:buNone/>
            </a:pPr>
            <a:r>
              <a:rPr lang="en-US" sz="2218" dirty="0">
                <a:solidFill>
                  <a:srgbClr val="FFFFFF"/>
                </a:solidFill>
                <a:latin typeface="Unbounded" pitchFamily="34" charset="0"/>
                <a:ea typeface="Unbounded" pitchFamily="34" charset="-122"/>
                <a:cs typeface="Unbounded" pitchFamily="34" charset="-120"/>
              </a:rPr>
              <a:t>Advocacy</a:t>
            </a:r>
            <a:endParaRPr lang="en-US" sz="2218" dirty="0"/>
          </a:p>
        </p:txBody>
      </p:sp>
      <p:sp>
        <p:nvSpPr>
          <p:cNvPr id="6" name="Text 3"/>
          <p:cNvSpPr/>
          <p:nvPr/>
        </p:nvSpPr>
        <p:spPr>
          <a:xfrm>
            <a:off x="837724" y="4731306"/>
            <a:ext cx="3928586" cy="1149072"/>
          </a:xfrm>
          <a:prstGeom prst="rect">
            <a:avLst/>
          </a:prstGeom>
          <a:noFill/>
          <a:ln/>
        </p:spPr>
        <p:txBody>
          <a:bodyPr wrap="square" rtlCol="0" anchor="t"/>
          <a:lstStyle/>
          <a:p>
            <a:pPr indent="0" marL="0">
              <a:lnSpc>
                <a:spcPts val="3016"/>
              </a:lnSpc>
              <a:buNone/>
            </a:pPr>
            <a:r>
              <a:rPr lang="en-US" sz="1885" dirty="0">
                <a:solidFill>
                  <a:srgbClr val="CAD6DE"/>
                </a:solidFill>
                <a:latin typeface="Cabin" pitchFamily="34" charset="0"/>
                <a:ea typeface="Cabin" pitchFamily="34" charset="-122"/>
                <a:cs typeface="Cabin" pitchFamily="34" charset="-120"/>
              </a:rPr>
              <a:t>Raise awareness and advocate for policies that support affordable and clean energy access.</a:t>
            </a:r>
            <a:endParaRPr lang="en-US" sz="1885" dirty="0"/>
          </a:p>
        </p:txBody>
      </p:sp>
      <p:sp>
        <p:nvSpPr>
          <p:cNvPr id="7" name="Text 4"/>
          <p:cNvSpPr/>
          <p:nvPr/>
        </p:nvSpPr>
        <p:spPr>
          <a:xfrm>
            <a:off x="5357813" y="4140041"/>
            <a:ext cx="2942749" cy="351949"/>
          </a:xfrm>
          <a:prstGeom prst="rect">
            <a:avLst/>
          </a:prstGeom>
          <a:noFill/>
          <a:ln/>
        </p:spPr>
        <p:txBody>
          <a:bodyPr wrap="none" rtlCol="0" anchor="t"/>
          <a:lstStyle/>
          <a:p>
            <a:pPr indent="0" marL="0">
              <a:lnSpc>
                <a:spcPts val="2772"/>
              </a:lnSpc>
              <a:buNone/>
            </a:pPr>
            <a:r>
              <a:rPr lang="en-US" sz="2218" dirty="0">
                <a:solidFill>
                  <a:srgbClr val="FFFFFF"/>
                </a:solidFill>
                <a:latin typeface="Unbounded" pitchFamily="34" charset="0"/>
                <a:ea typeface="Unbounded" pitchFamily="34" charset="-122"/>
                <a:cs typeface="Unbounded" pitchFamily="34" charset="-120"/>
              </a:rPr>
              <a:t>Capacity Building</a:t>
            </a:r>
            <a:endParaRPr lang="en-US" sz="2218" dirty="0"/>
          </a:p>
        </p:txBody>
      </p:sp>
      <p:sp>
        <p:nvSpPr>
          <p:cNvPr id="8" name="Text 5"/>
          <p:cNvSpPr/>
          <p:nvPr/>
        </p:nvSpPr>
        <p:spPr>
          <a:xfrm>
            <a:off x="5357813" y="4731306"/>
            <a:ext cx="3928586" cy="1149072"/>
          </a:xfrm>
          <a:prstGeom prst="rect">
            <a:avLst/>
          </a:prstGeom>
          <a:noFill/>
          <a:ln/>
        </p:spPr>
        <p:txBody>
          <a:bodyPr wrap="square" rtlCol="0" anchor="t"/>
          <a:lstStyle/>
          <a:p>
            <a:pPr indent="0" marL="0">
              <a:lnSpc>
                <a:spcPts val="3016"/>
              </a:lnSpc>
              <a:buNone/>
            </a:pPr>
            <a:r>
              <a:rPr lang="en-US" sz="1885" dirty="0">
                <a:solidFill>
                  <a:srgbClr val="CAD6DE"/>
                </a:solidFill>
                <a:latin typeface="Cabin" pitchFamily="34" charset="0"/>
                <a:ea typeface="Cabin" pitchFamily="34" charset="-122"/>
                <a:cs typeface="Cabin" pitchFamily="34" charset="-120"/>
              </a:rPr>
              <a:t>Provide training and technical assistance to communities on renewable energy solutions.</a:t>
            </a:r>
            <a:endParaRPr lang="en-US" sz="1885" dirty="0"/>
          </a:p>
        </p:txBody>
      </p:sp>
      <p:sp>
        <p:nvSpPr>
          <p:cNvPr id="9" name="Text 6"/>
          <p:cNvSpPr/>
          <p:nvPr/>
        </p:nvSpPr>
        <p:spPr>
          <a:xfrm>
            <a:off x="9877901" y="4140041"/>
            <a:ext cx="2816185" cy="351949"/>
          </a:xfrm>
          <a:prstGeom prst="rect">
            <a:avLst/>
          </a:prstGeom>
          <a:noFill/>
          <a:ln/>
        </p:spPr>
        <p:txBody>
          <a:bodyPr wrap="none" rtlCol="0" anchor="t"/>
          <a:lstStyle/>
          <a:p>
            <a:pPr indent="0" marL="0">
              <a:lnSpc>
                <a:spcPts val="2772"/>
              </a:lnSpc>
              <a:buNone/>
            </a:pPr>
            <a:r>
              <a:rPr lang="en-US" sz="2218" dirty="0">
                <a:solidFill>
                  <a:srgbClr val="FFFFFF"/>
                </a:solidFill>
                <a:latin typeface="Unbounded" pitchFamily="34" charset="0"/>
                <a:ea typeface="Unbounded" pitchFamily="34" charset="-122"/>
                <a:cs typeface="Unbounded" pitchFamily="34" charset="-120"/>
              </a:rPr>
              <a:t>Partnerships</a:t>
            </a:r>
            <a:endParaRPr lang="en-US" sz="2218" dirty="0"/>
          </a:p>
        </p:txBody>
      </p:sp>
      <p:sp>
        <p:nvSpPr>
          <p:cNvPr id="10" name="Text 7"/>
          <p:cNvSpPr/>
          <p:nvPr/>
        </p:nvSpPr>
        <p:spPr>
          <a:xfrm>
            <a:off x="9877901" y="4731306"/>
            <a:ext cx="3928586" cy="1149072"/>
          </a:xfrm>
          <a:prstGeom prst="rect">
            <a:avLst/>
          </a:prstGeom>
          <a:noFill/>
          <a:ln/>
        </p:spPr>
        <p:txBody>
          <a:bodyPr wrap="square" rtlCol="0" anchor="t"/>
          <a:lstStyle/>
          <a:p>
            <a:pPr indent="0" marL="0">
              <a:lnSpc>
                <a:spcPts val="3016"/>
              </a:lnSpc>
              <a:buNone/>
            </a:pPr>
            <a:r>
              <a:rPr lang="en-US" sz="1885" dirty="0">
                <a:solidFill>
                  <a:srgbClr val="CAD6DE"/>
                </a:solidFill>
                <a:latin typeface="Cabin" pitchFamily="34" charset="0"/>
                <a:ea typeface="Cabin" pitchFamily="34" charset="-122"/>
                <a:cs typeface="Cabin" pitchFamily="34" charset="-120"/>
              </a:rPr>
              <a:t>Collaborate with government, private sector, and other stakeholders to scale up clean energy initiatives.</a:t>
            </a:r>
            <a:endParaRPr lang="en-US" sz="1885" dirty="0"/>
          </a:p>
        </p:txBody>
      </p:sp>
      <p:pic>
        <p:nvPicPr>
          <p:cNvPr id="11"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2024-08-14T22:32:47Z</dcterms:created>
  <dcterms:modified xsi:type="dcterms:W3CDTF">2024-08-14T22:32:47Z</dcterms:modified>
</cp:coreProperties>
</file>